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7" r:id="rId21"/>
    <p:sldId id="278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15E80B-AD26-4BE5-8976-2DFBE659E38A}" v="1" dt="2026-05-03T19:58:18.0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3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lomon Runzonza" userId="208ce2033e4f48dd" providerId="LiveId" clId="{CE33EFAB-429E-43D3-B3A8-DE105FED213D}"/>
    <pc:docChg chg="undo custSel modSld">
      <pc:chgData name="Solomon Runzonza" userId="208ce2033e4f48dd" providerId="LiveId" clId="{CE33EFAB-429E-43D3-B3A8-DE105FED213D}" dt="2026-05-03T20:03:25.102" v="131" actId="20577"/>
      <pc:docMkLst>
        <pc:docMk/>
      </pc:docMkLst>
      <pc:sldChg chg="modSp mod">
        <pc:chgData name="Solomon Runzonza" userId="208ce2033e4f48dd" providerId="LiveId" clId="{CE33EFAB-429E-43D3-B3A8-DE105FED213D}" dt="2026-05-03T20:03:25.102" v="131" actId="20577"/>
        <pc:sldMkLst>
          <pc:docMk/>
          <pc:sldMk cId="0" sldId="278"/>
        </pc:sldMkLst>
        <pc:spChg chg="mod">
          <ac:chgData name="Solomon Runzonza" userId="208ce2033e4f48dd" providerId="LiveId" clId="{CE33EFAB-429E-43D3-B3A8-DE105FED213D}" dt="2026-05-03T20:03:25.102" v="131" actId="20577"/>
          <ac:spMkLst>
            <pc:docMk/>
            <pc:sldMk cId="0" sldId="278"/>
            <ac:spMk id="9" creationId="{00000000-0000-0000-0000-000000000000}"/>
          </ac:spMkLst>
        </pc:spChg>
      </pc:sldChg>
      <pc:sldChg chg="addSp modSp mod">
        <pc:chgData name="Solomon Runzonza" userId="208ce2033e4f48dd" providerId="LiveId" clId="{CE33EFAB-429E-43D3-B3A8-DE105FED213D}" dt="2026-05-03T20:01:07.310" v="124" actId="1076"/>
        <pc:sldMkLst>
          <pc:docMk/>
          <pc:sldMk cId="0" sldId="279"/>
        </pc:sldMkLst>
        <pc:spChg chg="mod">
          <ac:chgData name="Solomon Runzonza" userId="208ce2033e4f48dd" providerId="LiveId" clId="{CE33EFAB-429E-43D3-B3A8-DE105FED213D}" dt="2026-05-03T20:00:41.368" v="123" actId="1076"/>
          <ac:spMkLst>
            <pc:docMk/>
            <pc:sldMk cId="0" sldId="279"/>
            <ac:spMk id="3" creationId="{00000000-0000-0000-0000-000000000000}"/>
          </ac:spMkLst>
        </pc:spChg>
        <pc:spChg chg="add mod">
          <ac:chgData name="Solomon Runzonza" userId="208ce2033e4f48dd" providerId="LiveId" clId="{CE33EFAB-429E-43D3-B3A8-DE105FED213D}" dt="2026-05-03T20:01:07.310" v="124" actId="1076"/>
          <ac:spMkLst>
            <pc:docMk/>
            <pc:sldMk cId="0" sldId="279"/>
            <ac:spMk id="17" creationId="{947A837D-2DD4-0CF7-7F09-DA392BDFE97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1621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based on a personal story and I can tell you later on if you are interested.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4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1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0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1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67.png"/><Relationship Id="rId10" Type="http://schemas.openxmlformats.org/officeDocument/2006/relationships/image" Target="../media/image71.png"/><Relationship Id="rId4" Type="http://schemas.openxmlformats.org/officeDocument/2006/relationships/image" Target="../media/image66.png"/><Relationship Id="rId9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1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1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38.png"/><Relationship Id="rId9" Type="http://schemas.openxmlformats.org/officeDocument/2006/relationships/image" Target="../media/image8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92.png"/><Relationship Id="rId12" Type="http://schemas.openxmlformats.org/officeDocument/2006/relationships/image" Target="../media/image9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5.png"/><Relationship Id="rId5" Type="http://schemas.openxmlformats.org/officeDocument/2006/relationships/image" Target="../media/image90.png"/><Relationship Id="rId10" Type="http://schemas.openxmlformats.org/officeDocument/2006/relationships/image" Target="../media/image94.png"/><Relationship Id="rId4" Type="http://schemas.openxmlformats.org/officeDocument/2006/relationships/image" Target="../media/image89.png"/><Relationship Id="rId9" Type="http://schemas.openxmlformats.org/officeDocument/2006/relationships/image" Target="../media/image9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1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1.png"/><Relationship Id="rId3" Type="http://schemas.openxmlformats.org/officeDocument/2006/relationships/image" Target="../media/image1.png"/><Relationship Id="rId7" Type="http://schemas.openxmlformats.org/officeDocument/2006/relationships/image" Target="../media/image106.png"/><Relationship Id="rId12" Type="http://schemas.openxmlformats.org/officeDocument/2006/relationships/image" Target="../media/image1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11" Type="http://schemas.openxmlformats.org/officeDocument/2006/relationships/image" Target="../media/image109.png"/><Relationship Id="rId5" Type="http://schemas.openxmlformats.org/officeDocument/2006/relationships/image" Target="../media/image49.png"/><Relationship Id="rId10" Type="http://schemas.openxmlformats.org/officeDocument/2006/relationships/image" Target="../media/image108.png"/><Relationship Id="rId4" Type="http://schemas.openxmlformats.org/officeDocument/2006/relationships/image" Target="../media/image104.png"/><Relationship Id="rId9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82305" y="0"/>
            <a:ext cx="3810305" cy="6858000"/>
          </a:xfrm>
          <a:prstGeom prst="rect">
            <a:avLst/>
          </a:prstGeom>
          <a:solidFill>
            <a:srgbClr val="141F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525305" y="-1429207"/>
            <a:ext cx="3810305" cy="3810305"/>
          </a:xfrm>
          <a:prstGeom prst="ellipse">
            <a:avLst/>
          </a:prstGeom>
          <a:noFill/>
          <a:ln w="508000">
            <a:solidFill>
              <a:srgbClr val="FF9900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-952805" y="4762195"/>
            <a:ext cx="2857500" cy="2857500"/>
          </a:xfrm>
          <a:prstGeom prst="ellipse">
            <a:avLst/>
          </a:prstGeom>
          <a:noFill/>
          <a:ln w="38100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952805" y="5333695"/>
            <a:ext cx="571500" cy="3840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52805" y="1524305"/>
            <a:ext cx="685800" cy="6858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52805" y="2476195"/>
            <a:ext cx="8097012" cy="2105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-3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Insider Threat Detection Program 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-37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AWS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952805" y="4762195"/>
            <a:ext cx="71442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1" u="none" strike="noStrike" kern="1200" cap="none" spc="0" normalizeH="0" baseline="0" noProof="0" dirty="0">
                <a:ln>
                  <a:noFill/>
                </a:ln>
                <a:solidFill>
                  <a:srgbClr val="879596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r>
              <a:rPr lang="en-US" sz="2100" i="1" dirty="0">
                <a:solidFill>
                  <a:srgbClr val="8795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Trusted access with behavioral accountability</a:t>
            </a:r>
            <a:r>
              <a:rPr kumimoji="0" lang="en-US" sz="2100" b="0" i="1" u="none" strike="noStrike" kern="1200" cap="none" spc="0" normalizeH="0" baseline="0" noProof="0" dirty="0">
                <a:ln>
                  <a:noFill/>
                </a:ln>
                <a:solidFill>
                  <a:srgbClr val="879596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”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7"/>
          <p:cNvSpPr txBox="1"/>
          <p:nvPr/>
        </p:nvSpPr>
        <p:spPr>
          <a:xfrm>
            <a:off x="952805" y="5619902"/>
            <a:ext cx="5715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3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Solomon Runzonza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952805" y="5971946"/>
            <a:ext cx="5715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D5DBE1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MS Cybersecurity Capstone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48902" y="5905195"/>
            <a:ext cx="571500" cy="4572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715500" y="6048756"/>
            <a:ext cx="2095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50" normalizeH="0" baseline="0" noProof="0" dirty="0">
                <a:ln>
                  <a:noFill/>
                </a:ln>
                <a:solidFill>
                  <a:srgbClr val="FFFFFF">
                    <a:alpha val="30000"/>
                  </a:srgbClr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Behavioral Analytics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16" descr="preencoded.png">
            <a:extLst>
              <a:ext uri="{FF2B5EF4-FFF2-40B4-BE49-F238E27FC236}">
                <a16:creationId xmlns:a16="http://schemas.microsoft.com/office/drawing/2014/main" id="{4F663D6D-9DE0-74F8-3EB2-A75831AA407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7001" b="-7001"/>
          <a:stretch/>
        </p:blipFill>
        <p:spPr>
          <a:xfrm>
            <a:off x="3389251" y="5619902"/>
            <a:ext cx="190195" cy="247802"/>
          </a:xfrm>
          <a:prstGeom prst="rect">
            <a:avLst/>
          </a:prstGeom>
        </p:spPr>
      </p:pic>
      <p:sp>
        <p:nvSpPr>
          <p:cNvPr id="17" name="Text 8">
            <a:extLst>
              <a:ext uri="{FF2B5EF4-FFF2-40B4-BE49-F238E27FC236}">
                <a16:creationId xmlns:a16="http://schemas.microsoft.com/office/drawing/2014/main" id="{947A837D-2DD4-0CF7-7F09-DA392BDFE979}"/>
              </a:ext>
            </a:extLst>
          </p:cNvPr>
          <p:cNvSpPr txBox="1"/>
          <p:nvPr/>
        </p:nvSpPr>
        <p:spPr>
          <a:xfrm>
            <a:off x="9049817" y="6561277"/>
            <a:ext cx="5715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dirty="0">
                <a:solidFill>
                  <a:srgbClr val="D5DB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Quinnipiac University May 2026   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26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5895"/>
            <a:ext cx="12191695" cy="1143000"/>
          </a:xfrm>
          <a:prstGeom prst="rect">
            <a:avLst/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61695" y="1380744"/>
            <a:ext cx="5181905" cy="800100"/>
          </a:xfrm>
          <a:prstGeom prst="roundRect">
            <a:avLst>
              <a:gd name="adj" fmla="val 21769"/>
            </a:avLst>
          </a:prstGeom>
          <a:solidFill>
            <a:srgbClr val="FFFFFF"/>
          </a:solidFill>
          <a:ln w="254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286500" y="1380744"/>
            <a:ext cx="5181905" cy="800100"/>
          </a:xfrm>
          <a:prstGeom prst="roundRect">
            <a:avLst>
              <a:gd name="adj" fmla="val 21769"/>
            </a:avLst>
          </a:prstGeom>
          <a:solidFill>
            <a:srgbClr val="FFFFFF"/>
          </a:solidFill>
          <a:ln w="254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61695" y="2333549"/>
            <a:ext cx="10735056" cy="1067105"/>
          </a:xfrm>
          <a:prstGeom prst="roundRect">
            <a:avLst>
              <a:gd name="adj" fmla="val 9181"/>
            </a:avLst>
          </a:prstGeom>
          <a:solidFill>
            <a:srgbClr val="F8F9FA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61695" y="2333549"/>
            <a:ext cx="57607" cy="1067105"/>
          </a:xfrm>
          <a:prstGeom prst="roundRect">
            <a:avLst>
              <a:gd name="adj" fmla="val 170069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61695" y="3571646"/>
            <a:ext cx="3448202" cy="1380744"/>
          </a:xfrm>
          <a:prstGeom prst="roundRect">
            <a:avLst>
              <a:gd name="adj" fmla="val 5481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61695" y="3571646"/>
            <a:ext cx="3448202" cy="38405"/>
          </a:xfrm>
          <a:prstGeom prst="roundRect">
            <a:avLst>
              <a:gd name="adj" fmla="val 197043"/>
            </a:avLst>
          </a:prstGeom>
          <a:solidFill>
            <a:srgbClr val="D32F2F"/>
          </a:solidFill>
          <a:ln w="12700">
            <a:solidFill>
              <a:srgbClr val="D32F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81805" y="3571646"/>
            <a:ext cx="3448202" cy="1380744"/>
          </a:xfrm>
          <a:prstGeom prst="roundRect">
            <a:avLst>
              <a:gd name="adj" fmla="val 5481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81805" y="3571646"/>
            <a:ext cx="3448202" cy="38405"/>
          </a:xfrm>
          <a:prstGeom prst="roundRect">
            <a:avLst>
              <a:gd name="adj" fmla="val 197043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001000" y="3571646"/>
            <a:ext cx="3448202" cy="1380744"/>
          </a:xfrm>
          <a:prstGeom prst="roundRect">
            <a:avLst>
              <a:gd name="adj" fmla="val 5481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001000" y="3571646"/>
            <a:ext cx="3448202" cy="38405"/>
          </a:xfrm>
          <a:prstGeom prst="roundRect">
            <a:avLst>
              <a:gd name="adj" fmla="val 197043"/>
            </a:avLst>
          </a:prstGeom>
          <a:solidFill>
            <a:srgbClr val="F4B400"/>
          </a:solidFill>
          <a:ln w="12700">
            <a:solidFill>
              <a:srgbClr val="F4B4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61695" y="5143500"/>
            <a:ext cx="10782605" cy="1238098"/>
          </a:xfrm>
          <a:prstGeom prst="roundRect">
            <a:avLst>
              <a:gd name="adj" fmla="val 9090"/>
            </a:avLst>
          </a:prstGeom>
          <a:solidFill>
            <a:srgbClr val="FFF8EE"/>
          </a:solidFill>
          <a:ln/>
          <a:effectLst>
            <a:outerShdw blurRad="114300" dist="381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61695" y="5143500"/>
            <a:ext cx="114300" cy="1238098"/>
          </a:xfrm>
          <a:prstGeom prst="roundRect">
            <a:avLst>
              <a:gd name="adj" fmla="val 98462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61695" y="333756"/>
            <a:ext cx="97155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Reality of Cybersecurity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761695" y="809244"/>
            <a:ext cx="9715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Insider Threats Are Harder to Detect</a:t>
            </a:r>
            <a:endParaRPr lang="en-US" sz="16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916107" y="485546"/>
            <a:ext cx="457200" cy="457200"/>
          </a:xfrm>
          <a:prstGeom prst="rect">
            <a:avLst/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14654" y="1638605"/>
            <a:ext cx="247802" cy="2478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619402" y="1647749"/>
            <a:ext cx="41129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breaches involve valid access</a:t>
            </a:r>
            <a:endParaRPr lang="en-US" sz="15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t="-476" b="-476"/>
          <a:stretch/>
        </p:blipFill>
        <p:spPr>
          <a:xfrm>
            <a:off x="6624828" y="1638605"/>
            <a:ext cx="276149" cy="2478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144207" y="1647749"/>
            <a:ext cx="4233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Insiders bypass traditional defenses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1143000" y="2572207"/>
            <a:ext cx="9906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NSA Definition:</a:t>
            </a:r>
            <a:r>
              <a:rPr lang="en-US" sz="1400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 insider is any person with authorized access to any U.S. Government resource, including personnel, facilities, information, equipment, networks, or systems.</a:t>
            </a:r>
            <a:endParaRPr lang="en-US" sz="14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72007" y="3733495"/>
            <a:ext cx="190195" cy="19019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85646" y="3738982"/>
            <a:ext cx="9052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8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MALICIOUS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952805" y="4048049"/>
            <a:ext cx="3048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Intentional misuse: deliberate theft, sabotage, or espionage using authorized access</a:t>
            </a:r>
            <a:endParaRPr lang="en-US" sz="10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91202" y="3733495"/>
            <a:ext cx="190195" cy="19019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4905756" y="3738982"/>
            <a:ext cx="9144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8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NEGLIGENT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4572000" y="4048049"/>
            <a:ext cx="30486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Unintentional exposure: careless errors, misconfigurations, or policy violations without malicious intent</a:t>
            </a:r>
            <a:endParaRPr lang="en-US" sz="10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rcRect l="-1648" r="-1648"/>
          <a:stretch/>
        </p:blipFill>
        <p:spPr>
          <a:xfrm>
            <a:off x="8220456" y="3733495"/>
            <a:ext cx="171907" cy="19019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524951" y="3738982"/>
            <a:ext cx="12289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8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COMPROMISED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8191195" y="4048049"/>
            <a:ext cx="3048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Hijacked credentials: external actors exploiting stolen or phished insider access keys</a:t>
            </a:r>
            <a:endParaRPr lang="en-US" sz="10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rcRect l="-73" r="-73"/>
          <a:stretch/>
        </p:blipFill>
        <p:spPr>
          <a:xfrm>
            <a:off x="1367028" y="5553151"/>
            <a:ext cx="314554" cy="418795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2095805" y="5442509"/>
            <a:ext cx="89538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Unlike external attackers who must breach perimeters, insiders already have the keys—making detection a </a:t>
            </a:r>
            <a:r>
              <a:rPr lang="en-US" sz="1800" b="1" dirty="0">
                <a:solidFill>
                  <a:srgbClr val="FF99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behavioral challenge</a:t>
            </a:r>
            <a:r>
              <a:rPr lang="en-US" sz="18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not a boundary problem.</a:t>
            </a:r>
            <a:endParaRPr lang="en-US" sz="1800" dirty="0"/>
          </a:p>
        </p:txBody>
      </p:sp>
      <p:sp>
        <p:nvSpPr>
          <p:cNvPr id="37" name="Text 27"/>
          <p:cNvSpPr txBox="1"/>
          <p:nvPr/>
        </p:nvSpPr>
        <p:spPr>
          <a:xfrm>
            <a:off x="9045245" y="6534302"/>
            <a:ext cx="284561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99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CNSSI 4009-2015 (NSA Definition)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5895"/>
            <a:ext cx="12191695" cy="1067105"/>
          </a:xfrm>
          <a:prstGeom prst="rect">
            <a:avLst/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401" r="-401"/>
          <a:stretch/>
        </p:blipFill>
        <p:spPr>
          <a:xfrm>
            <a:off x="1524305" y="1238098"/>
            <a:ext cx="38405" cy="523859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095805" y="1238098"/>
            <a:ext cx="9334195" cy="1285646"/>
          </a:xfrm>
          <a:prstGeom prst="roundRect">
            <a:avLst>
              <a:gd name="adj" fmla="val 6322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2095805" y="1238098"/>
            <a:ext cx="75895" cy="1285646"/>
          </a:xfrm>
          <a:prstGeom prst="roundRect">
            <a:avLst>
              <a:gd name="adj" fmla="val 107095"/>
            </a:avLst>
          </a:prstGeom>
          <a:solidFill>
            <a:srgbClr val="D13212"/>
          </a:solidFill>
          <a:ln w="12700">
            <a:solidFill>
              <a:srgbClr val="D132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095805" y="2572207"/>
            <a:ext cx="9334195" cy="1285646"/>
          </a:xfrm>
          <a:prstGeom prst="roundRect">
            <a:avLst>
              <a:gd name="adj" fmla="val 6322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095805" y="2572207"/>
            <a:ext cx="75895" cy="1285646"/>
          </a:xfrm>
          <a:prstGeom prst="roundRect">
            <a:avLst>
              <a:gd name="adj" fmla="val 107095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2095805" y="3905402"/>
            <a:ext cx="9334195" cy="1285646"/>
          </a:xfrm>
          <a:prstGeom prst="roundRect">
            <a:avLst>
              <a:gd name="adj" fmla="val 6322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2095805" y="3905402"/>
            <a:ext cx="75895" cy="1285646"/>
          </a:xfrm>
          <a:prstGeom prst="roundRect">
            <a:avLst>
              <a:gd name="adj" fmla="val 107095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2095805" y="5238598"/>
            <a:ext cx="9334195" cy="1285646"/>
          </a:xfrm>
          <a:prstGeom prst="roundRect">
            <a:avLst>
              <a:gd name="adj" fmla="val 6322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2095805" y="5238598"/>
            <a:ext cx="75895" cy="1285646"/>
          </a:xfrm>
          <a:prstGeom prst="roundRect">
            <a:avLst>
              <a:gd name="adj" fmla="val 107095"/>
            </a:avLst>
          </a:prstGeom>
          <a:solidFill>
            <a:srgbClr val="D13212"/>
          </a:solidFill>
          <a:ln w="12700">
            <a:solidFill>
              <a:srgbClr val="D132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t="-391" b="-391"/>
          <a:stretch/>
        </p:blipFill>
        <p:spPr>
          <a:xfrm>
            <a:off x="1686154" y="1762049"/>
            <a:ext cx="409651" cy="38405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t="-391" b="-391"/>
          <a:stretch/>
        </p:blipFill>
        <p:spPr>
          <a:xfrm>
            <a:off x="1686154" y="3095244"/>
            <a:ext cx="409651" cy="38405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t="-391" b="-391"/>
          <a:stretch/>
        </p:blipFill>
        <p:spPr>
          <a:xfrm>
            <a:off x="1686154" y="4429354"/>
            <a:ext cx="409651" cy="38405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rcRect t="-391" b="-391"/>
          <a:stretch/>
        </p:blipFill>
        <p:spPr>
          <a:xfrm>
            <a:off x="1686154" y="5762549"/>
            <a:ext cx="409651" cy="38405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1399946" y="1638605"/>
            <a:ext cx="286207" cy="286207"/>
          </a:xfrm>
          <a:prstGeom prst="ellipse">
            <a:avLst/>
          </a:prstGeom>
          <a:solidFill>
            <a:srgbClr val="FFFFFF"/>
          </a:solidFill>
          <a:ln w="50800">
            <a:solidFill>
              <a:srgbClr val="D13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2"/>
          <p:cNvSpPr/>
          <p:nvPr/>
        </p:nvSpPr>
        <p:spPr>
          <a:xfrm>
            <a:off x="1399946" y="2971800"/>
            <a:ext cx="286207" cy="286207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3"/>
          <p:cNvSpPr/>
          <p:nvPr/>
        </p:nvSpPr>
        <p:spPr>
          <a:xfrm>
            <a:off x="1399946" y="4304995"/>
            <a:ext cx="286207" cy="286207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4"/>
          <p:cNvSpPr/>
          <p:nvPr/>
        </p:nvSpPr>
        <p:spPr>
          <a:xfrm>
            <a:off x="1399946" y="5639105"/>
            <a:ext cx="286207" cy="286207"/>
          </a:xfrm>
          <a:prstGeom prst="ellipse">
            <a:avLst/>
          </a:prstGeom>
          <a:solidFill>
            <a:srgbClr val="FFFFFF"/>
          </a:solidFill>
          <a:ln w="50800">
            <a:solidFill>
              <a:srgbClr val="D13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5"/>
          <p:cNvSpPr txBox="1"/>
          <p:nvPr/>
        </p:nvSpPr>
        <p:spPr>
          <a:xfrm>
            <a:off x="761695" y="362102"/>
            <a:ext cx="9525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Real-World Insider Threat Cases</a:t>
            </a:r>
            <a:endParaRPr lang="en-US" sz="31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rcRect/>
          <a:stretch/>
        </p:blipFill>
        <p:spPr>
          <a:xfrm>
            <a:off x="10858500" y="381305"/>
            <a:ext cx="571500" cy="4572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571500" y="1666951"/>
            <a:ext cx="810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13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</a:t>
            </a:r>
            <a:endParaRPr lang="en-US" sz="1500" dirty="0"/>
          </a:p>
        </p:txBody>
      </p:sp>
      <p:sp>
        <p:nvSpPr>
          <p:cNvPr id="26" name="Text 17"/>
          <p:cNvSpPr txBox="1"/>
          <p:nvPr/>
        </p:nvSpPr>
        <p:spPr>
          <a:xfrm>
            <a:off x="571500" y="3000146"/>
            <a:ext cx="810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2019</a:t>
            </a:r>
            <a:endParaRPr lang="en-US" sz="1500" dirty="0"/>
          </a:p>
        </p:txBody>
      </p:sp>
      <p:sp>
        <p:nvSpPr>
          <p:cNvPr id="27" name="Text 18"/>
          <p:cNvSpPr txBox="1"/>
          <p:nvPr/>
        </p:nvSpPr>
        <p:spPr>
          <a:xfrm>
            <a:off x="571500" y="4334256"/>
            <a:ext cx="810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5A6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2016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571500" y="5667451"/>
            <a:ext cx="810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13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2013</a:t>
            </a:r>
            <a:endParaRPr lang="en-US" sz="15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9"/>
          <a:srcRect l="-743" r="-743"/>
          <a:stretch/>
        </p:blipFill>
        <p:spPr>
          <a:xfrm>
            <a:off x="2467051" y="1733702"/>
            <a:ext cx="304495" cy="34290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3047695" y="1352398"/>
            <a:ext cx="80970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Coinbase / Bribed Customer Support Agents </a:t>
            </a:r>
            <a:r>
              <a:rPr lang="en-US" sz="900" b="1" dirty="0">
                <a:solidFill>
                  <a:srgbClr val="D13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MALICIOUS</a:t>
            </a:r>
            <a:endParaRPr lang="en-US" sz="1500" dirty="0"/>
          </a:p>
        </p:txBody>
      </p:sp>
      <p:sp>
        <p:nvSpPr>
          <p:cNvPr id="31" name="Text 21"/>
          <p:cNvSpPr txBox="1"/>
          <p:nvPr/>
        </p:nvSpPr>
        <p:spPr>
          <a:xfrm>
            <a:off x="3047695" y="1686154"/>
            <a:ext cx="2543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46B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</a:t>
            </a:r>
            <a:endParaRPr lang="en-US" sz="900" dirty="0"/>
          </a:p>
        </p:txBody>
      </p:sp>
      <p:sp>
        <p:nvSpPr>
          <p:cNvPr id="32" name="Text 22"/>
          <p:cNvSpPr txBox="1"/>
          <p:nvPr/>
        </p:nvSpPr>
        <p:spPr>
          <a:xfrm>
            <a:off x="3047695" y="1848002"/>
            <a:ext cx="254386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theft via social engineering: 69,461 customer records stolen through insider collusion.</a:t>
            </a:r>
            <a:endParaRPr lang="en-US" sz="900" dirty="0"/>
          </a:p>
        </p:txBody>
      </p:sp>
      <p:sp>
        <p:nvSpPr>
          <p:cNvPr id="33" name="Text 23"/>
          <p:cNvSpPr txBox="1"/>
          <p:nvPr/>
        </p:nvSpPr>
        <p:spPr>
          <a:xfrm>
            <a:off x="5781751" y="1686154"/>
            <a:ext cx="2543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46B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Detection Failure</a:t>
            </a:r>
            <a:endParaRPr lang="en-US" sz="900" dirty="0"/>
          </a:p>
        </p:txBody>
      </p:sp>
      <p:sp>
        <p:nvSpPr>
          <p:cNvPr id="34" name="Text 24"/>
          <p:cNvSpPr txBox="1"/>
          <p:nvPr/>
        </p:nvSpPr>
        <p:spPr>
          <a:xfrm>
            <a:off x="5781751" y="1848002"/>
            <a:ext cx="25438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Overseas contractors were bribed to abuse legitimate customer support access.</a:t>
            </a:r>
            <a:endParaRPr lang="en-US" sz="900" dirty="0"/>
          </a:p>
        </p:txBody>
      </p:sp>
      <p:sp>
        <p:nvSpPr>
          <p:cNvPr id="35" name="Shape 25"/>
          <p:cNvSpPr/>
          <p:nvPr/>
        </p:nvSpPr>
        <p:spPr>
          <a:xfrm>
            <a:off x="8515807" y="1686154"/>
            <a:ext cx="2723998" cy="714146"/>
          </a:xfrm>
          <a:prstGeom prst="roundRect">
            <a:avLst>
              <a:gd name="adj" fmla="val 13658"/>
            </a:avLst>
          </a:prstGeom>
          <a:solidFill>
            <a:srgbClr val="D13212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6"/>
          <p:cNvSpPr/>
          <p:nvPr/>
        </p:nvSpPr>
        <p:spPr>
          <a:xfrm>
            <a:off x="8515807" y="1686154"/>
            <a:ext cx="28346" cy="714146"/>
          </a:xfrm>
          <a:prstGeom prst="roundRect">
            <a:avLst>
              <a:gd name="adj" fmla="val 344091"/>
            </a:avLst>
          </a:prstGeom>
          <a:solidFill>
            <a:srgbClr val="D13212"/>
          </a:solidFill>
          <a:ln w="12700">
            <a:solidFill>
              <a:srgbClr val="D132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7"/>
          <p:cNvSpPr txBox="1"/>
          <p:nvPr/>
        </p:nvSpPr>
        <p:spPr>
          <a:xfrm>
            <a:off x="8620049" y="1762049"/>
            <a:ext cx="2543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13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Lesson Learned</a:t>
            </a:r>
            <a:endParaRPr lang="en-US" sz="900" dirty="0"/>
          </a:p>
        </p:txBody>
      </p:sp>
      <p:sp>
        <p:nvSpPr>
          <p:cNvPr id="38" name="Text 28"/>
          <p:cNvSpPr txBox="1"/>
          <p:nvPr/>
        </p:nvSpPr>
        <p:spPr>
          <a:xfrm>
            <a:off x="8620049" y="1923898"/>
            <a:ext cx="254386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 privileged access patterns and implement insider threat detection for support systems.</a:t>
            </a:r>
            <a:endParaRPr lang="en-US" sz="90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447849" y="3066898"/>
            <a:ext cx="342900" cy="34290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3047695" y="2686507"/>
            <a:ext cx="80970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 One / Paige Thompson </a:t>
            </a:r>
            <a:r>
              <a:rPr lang="en-US" sz="900" b="1" dirty="0">
                <a:solidFill>
                  <a:srgbClr val="E68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NEGLIGENT</a:t>
            </a:r>
            <a:endParaRPr lang="en-US" sz="1500" dirty="0"/>
          </a:p>
        </p:txBody>
      </p:sp>
      <p:sp>
        <p:nvSpPr>
          <p:cNvPr id="41" name="Text 30"/>
          <p:cNvSpPr txBox="1"/>
          <p:nvPr/>
        </p:nvSpPr>
        <p:spPr>
          <a:xfrm>
            <a:off x="3047695" y="3019349"/>
            <a:ext cx="2543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46B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</a:t>
            </a:r>
            <a:endParaRPr lang="en-US" sz="900" dirty="0"/>
          </a:p>
        </p:txBody>
      </p:sp>
      <p:sp>
        <p:nvSpPr>
          <p:cNvPr id="42" name="Text 31"/>
          <p:cNvSpPr txBox="1"/>
          <p:nvPr/>
        </p:nvSpPr>
        <p:spPr>
          <a:xfrm>
            <a:off x="3047695" y="3181198"/>
            <a:ext cx="25438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Unintentional public exposure of sensitive customer PII (100M+ users).</a:t>
            </a:r>
            <a:endParaRPr lang="en-US" sz="900" dirty="0"/>
          </a:p>
        </p:txBody>
      </p:sp>
      <p:sp>
        <p:nvSpPr>
          <p:cNvPr id="43" name="Text 32"/>
          <p:cNvSpPr txBox="1"/>
          <p:nvPr/>
        </p:nvSpPr>
        <p:spPr>
          <a:xfrm>
            <a:off x="5781751" y="3019349"/>
            <a:ext cx="2543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46B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Detection Failure</a:t>
            </a:r>
            <a:endParaRPr lang="en-US" sz="900" dirty="0"/>
          </a:p>
        </p:txBody>
      </p:sp>
      <p:sp>
        <p:nvSpPr>
          <p:cNvPr id="44" name="Text 33"/>
          <p:cNvSpPr txBox="1"/>
          <p:nvPr/>
        </p:nvSpPr>
        <p:spPr>
          <a:xfrm>
            <a:off x="5781751" y="3181198"/>
            <a:ext cx="25438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viewed policy change as a standard, authorized API call.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8515807" y="3019349"/>
            <a:ext cx="2723998" cy="714146"/>
          </a:xfrm>
          <a:prstGeom prst="roundRect">
            <a:avLst>
              <a:gd name="adj" fmla="val 13658"/>
            </a:avLst>
          </a:prstGeom>
          <a:solidFill>
            <a:srgbClr val="FF9900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5"/>
          <p:cNvSpPr/>
          <p:nvPr/>
        </p:nvSpPr>
        <p:spPr>
          <a:xfrm>
            <a:off x="8515807" y="3019349"/>
            <a:ext cx="28346" cy="714146"/>
          </a:xfrm>
          <a:prstGeom prst="roundRect">
            <a:avLst>
              <a:gd name="adj" fmla="val 344091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6"/>
          <p:cNvSpPr txBox="1"/>
          <p:nvPr/>
        </p:nvSpPr>
        <p:spPr>
          <a:xfrm>
            <a:off x="8620049" y="3095244"/>
            <a:ext cx="2543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8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Lesson Learned</a:t>
            </a:r>
            <a:endParaRPr lang="en-US" sz="900" dirty="0"/>
          </a:p>
        </p:txBody>
      </p:sp>
      <p:sp>
        <p:nvSpPr>
          <p:cNvPr id="48" name="Text 37"/>
          <p:cNvSpPr txBox="1"/>
          <p:nvPr/>
        </p:nvSpPr>
        <p:spPr>
          <a:xfrm>
            <a:off x="8620049" y="3258007"/>
            <a:ext cx="25438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 on boundary weakening &amp; sensitive prefix targeting immediately.</a:t>
            </a:r>
            <a:endParaRPr lang="en-US" sz="900" dirty="0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1"/>
          <a:srcRect l="-743" r="-743"/>
          <a:stretch/>
        </p:blipFill>
        <p:spPr>
          <a:xfrm>
            <a:off x="2467051" y="4401007"/>
            <a:ext cx="304495" cy="342900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3047695" y="4019702"/>
            <a:ext cx="80970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Uber / Third-Party Contractor </a:t>
            </a:r>
            <a:r>
              <a:rPr lang="en-US" sz="900" b="1" dirty="0">
                <a:solidFill>
                  <a:srgbClr val="D488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COMPROMISED</a:t>
            </a:r>
            <a:endParaRPr lang="en-US" sz="1500" dirty="0"/>
          </a:p>
        </p:txBody>
      </p:sp>
      <p:sp>
        <p:nvSpPr>
          <p:cNvPr id="51" name="Text 39"/>
          <p:cNvSpPr txBox="1"/>
          <p:nvPr/>
        </p:nvSpPr>
        <p:spPr>
          <a:xfrm>
            <a:off x="3047695" y="4352544"/>
            <a:ext cx="2543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46B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</a:t>
            </a:r>
            <a:endParaRPr lang="en-US" sz="900" dirty="0"/>
          </a:p>
        </p:txBody>
      </p:sp>
      <p:sp>
        <p:nvSpPr>
          <p:cNvPr id="52" name="Text 40"/>
          <p:cNvSpPr txBox="1"/>
          <p:nvPr/>
        </p:nvSpPr>
        <p:spPr>
          <a:xfrm>
            <a:off x="3047695" y="4515307"/>
            <a:ext cx="25438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Unauthorized database access and massive infrastructure abuse.</a:t>
            </a:r>
            <a:endParaRPr lang="en-US" sz="900" dirty="0"/>
          </a:p>
        </p:txBody>
      </p:sp>
      <p:sp>
        <p:nvSpPr>
          <p:cNvPr id="53" name="Text 41"/>
          <p:cNvSpPr txBox="1"/>
          <p:nvPr/>
        </p:nvSpPr>
        <p:spPr>
          <a:xfrm>
            <a:off x="5781751" y="4352544"/>
            <a:ext cx="2543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46B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Detection Failure</a:t>
            </a:r>
            <a:endParaRPr lang="en-US" sz="900" dirty="0"/>
          </a:p>
        </p:txBody>
      </p:sp>
      <p:sp>
        <p:nvSpPr>
          <p:cNvPr id="54" name="Text 42"/>
          <p:cNvSpPr txBox="1"/>
          <p:nvPr/>
        </p:nvSpPr>
        <p:spPr>
          <a:xfrm>
            <a:off x="5781751" y="4515307"/>
            <a:ext cx="25438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Initial reconnaissance perfectly matched baseline user behavior.</a:t>
            </a:r>
            <a:endParaRPr lang="en-US" sz="900" dirty="0"/>
          </a:p>
        </p:txBody>
      </p:sp>
      <p:sp>
        <p:nvSpPr>
          <p:cNvPr id="55" name="Shape 43"/>
          <p:cNvSpPr/>
          <p:nvPr/>
        </p:nvSpPr>
        <p:spPr>
          <a:xfrm>
            <a:off x="8515807" y="4352544"/>
            <a:ext cx="2723998" cy="714146"/>
          </a:xfrm>
          <a:prstGeom prst="roundRect">
            <a:avLst>
              <a:gd name="adj" fmla="val 13658"/>
            </a:avLst>
          </a:prstGeom>
          <a:solidFill>
            <a:srgbClr val="F5A623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44"/>
          <p:cNvSpPr/>
          <p:nvPr/>
        </p:nvSpPr>
        <p:spPr>
          <a:xfrm>
            <a:off x="8515807" y="4352544"/>
            <a:ext cx="28346" cy="714146"/>
          </a:xfrm>
          <a:prstGeom prst="roundRect">
            <a:avLst>
              <a:gd name="adj" fmla="val 344091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5"/>
          <p:cNvSpPr txBox="1"/>
          <p:nvPr/>
        </p:nvSpPr>
        <p:spPr>
          <a:xfrm>
            <a:off x="8620049" y="4429354"/>
            <a:ext cx="2543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88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Lesson Learned</a:t>
            </a:r>
            <a:endParaRPr lang="en-US" sz="900" dirty="0"/>
          </a:p>
        </p:txBody>
      </p:sp>
      <p:sp>
        <p:nvSpPr>
          <p:cNvPr id="58" name="Text 46"/>
          <p:cNvSpPr txBox="1"/>
          <p:nvPr/>
        </p:nvSpPr>
        <p:spPr>
          <a:xfrm>
            <a:off x="8620049" y="4591202"/>
            <a:ext cx="25438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Require cumulative sequence analytics for accurate detection.</a:t>
            </a:r>
            <a:endParaRPr lang="en-US" sz="900" dirty="0"/>
          </a:p>
        </p:txBody>
      </p:sp>
      <p:pic>
        <p:nvPicPr>
          <p:cNvPr id="59" name="Image 10" descr="preencoded.png"/>
          <p:cNvPicPr>
            <a:picLocks noChangeAspect="1"/>
          </p:cNvPicPr>
          <p:nvPr/>
        </p:nvPicPr>
        <p:blipFill>
          <a:blip r:embed="rId9"/>
          <a:srcRect l="-743" r="-743"/>
          <a:stretch/>
        </p:blipFill>
        <p:spPr>
          <a:xfrm>
            <a:off x="2467051" y="5734202"/>
            <a:ext cx="304495" cy="342900"/>
          </a:xfrm>
          <a:prstGeom prst="rect">
            <a:avLst/>
          </a:prstGeom>
        </p:spPr>
      </p:pic>
      <p:sp>
        <p:nvSpPr>
          <p:cNvPr id="60" name="Text 47"/>
          <p:cNvSpPr txBox="1"/>
          <p:nvPr/>
        </p:nvSpPr>
        <p:spPr>
          <a:xfrm>
            <a:off x="3047695" y="5352898"/>
            <a:ext cx="80970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Edward Snowden / NSA </a:t>
            </a:r>
            <a:r>
              <a:rPr lang="en-US" sz="900" b="1" dirty="0">
                <a:solidFill>
                  <a:srgbClr val="D13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MALICIOUS</a:t>
            </a:r>
            <a:endParaRPr lang="en-US" sz="1500" dirty="0"/>
          </a:p>
        </p:txBody>
      </p:sp>
      <p:sp>
        <p:nvSpPr>
          <p:cNvPr id="61" name="Text 48"/>
          <p:cNvSpPr txBox="1"/>
          <p:nvPr/>
        </p:nvSpPr>
        <p:spPr>
          <a:xfrm>
            <a:off x="3047695" y="5686654"/>
            <a:ext cx="2543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46B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</a:t>
            </a:r>
            <a:endParaRPr lang="en-US" sz="900" dirty="0"/>
          </a:p>
        </p:txBody>
      </p:sp>
      <p:sp>
        <p:nvSpPr>
          <p:cNvPr id="62" name="Text 49"/>
          <p:cNvSpPr txBox="1"/>
          <p:nvPr/>
        </p:nvSpPr>
        <p:spPr>
          <a:xfrm>
            <a:off x="3047695" y="5848502"/>
            <a:ext cx="25438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Mass exfiltration of highly classified intelligence data.</a:t>
            </a:r>
            <a:endParaRPr lang="en-US" sz="900" dirty="0"/>
          </a:p>
        </p:txBody>
      </p:sp>
      <p:sp>
        <p:nvSpPr>
          <p:cNvPr id="63" name="Text 50"/>
          <p:cNvSpPr txBox="1"/>
          <p:nvPr/>
        </p:nvSpPr>
        <p:spPr>
          <a:xfrm>
            <a:off x="5781751" y="5686654"/>
            <a:ext cx="2543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46B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Detection Failure</a:t>
            </a:r>
            <a:endParaRPr lang="en-US" sz="900" dirty="0"/>
          </a:p>
        </p:txBody>
      </p:sp>
      <p:sp>
        <p:nvSpPr>
          <p:cNvPr id="64" name="Text 51"/>
          <p:cNvSpPr txBox="1"/>
          <p:nvPr/>
        </p:nvSpPr>
        <p:spPr>
          <a:xfrm>
            <a:off x="5781751" y="5848502"/>
            <a:ext cx="25438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Exploited legitimate admin credentials; perimeter remained intact.</a:t>
            </a:r>
            <a:endParaRPr lang="en-US" sz="900" dirty="0"/>
          </a:p>
        </p:txBody>
      </p:sp>
      <p:sp>
        <p:nvSpPr>
          <p:cNvPr id="65" name="Shape 52"/>
          <p:cNvSpPr/>
          <p:nvPr/>
        </p:nvSpPr>
        <p:spPr>
          <a:xfrm>
            <a:off x="8515807" y="5686654"/>
            <a:ext cx="2723998" cy="714146"/>
          </a:xfrm>
          <a:prstGeom prst="roundRect">
            <a:avLst>
              <a:gd name="adj" fmla="val 13658"/>
            </a:avLst>
          </a:prstGeom>
          <a:solidFill>
            <a:srgbClr val="D13212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53"/>
          <p:cNvSpPr/>
          <p:nvPr/>
        </p:nvSpPr>
        <p:spPr>
          <a:xfrm>
            <a:off x="8515807" y="5686654"/>
            <a:ext cx="28346" cy="714146"/>
          </a:xfrm>
          <a:prstGeom prst="roundRect">
            <a:avLst>
              <a:gd name="adj" fmla="val 344091"/>
            </a:avLst>
          </a:prstGeom>
          <a:solidFill>
            <a:srgbClr val="D13212"/>
          </a:solidFill>
          <a:ln w="12700">
            <a:solidFill>
              <a:srgbClr val="D132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4"/>
          <p:cNvSpPr txBox="1"/>
          <p:nvPr/>
        </p:nvSpPr>
        <p:spPr>
          <a:xfrm>
            <a:off x="8620049" y="5762549"/>
            <a:ext cx="2543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13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Lesson Learned</a:t>
            </a:r>
            <a:endParaRPr lang="en-US" sz="900" dirty="0"/>
          </a:p>
        </p:txBody>
      </p:sp>
      <p:sp>
        <p:nvSpPr>
          <p:cNvPr id="68" name="Text 55"/>
          <p:cNvSpPr txBox="1"/>
          <p:nvPr/>
        </p:nvSpPr>
        <p:spPr>
          <a:xfrm>
            <a:off x="8620049" y="5924398"/>
            <a:ext cx="25438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Must score actions, not assume trust based on role.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5895"/>
            <a:ext cx="12191695" cy="1143000"/>
          </a:xfrm>
          <a:prstGeom prst="rect">
            <a:avLst/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61695" y="1524305"/>
            <a:ext cx="5048402" cy="2381098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61695" y="1524305"/>
            <a:ext cx="57607" cy="2381098"/>
          </a:xfrm>
          <a:prstGeom prst="roundRect">
            <a:avLst>
              <a:gd name="adj" fmla="val 101588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381598" y="1524305"/>
            <a:ext cx="5048402" cy="2381098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381598" y="1524305"/>
            <a:ext cx="57607" cy="2381098"/>
          </a:xfrm>
          <a:prstGeom prst="roundRect">
            <a:avLst>
              <a:gd name="adj" fmla="val 101588"/>
            </a:avLst>
          </a:prstGeom>
          <a:solidFill>
            <a:srgbClr val="232F3E"/>
          </a:solidFill>
          <a:ln w="12700">
            <a:solidFill>
              <a:srgbClr val="232F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61695" y="4095598"/>
            <a:ext cx="5048402" cy="2476195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61695" y="4095598"/>
            <a:ext cx="57607" cy="2476195"/>
          </a:xfrm>
          <a:prstGeom prst="roundRect">
            <a:avLst>
              <a:gd name="adj" fmla="val 97680"/>
            </a:avLst>
          </a:prstGeom>
          <a:solidFill>
            <a:srgbClr val="232F3E"/>
          </a:solidFill>
          <a:ln w="12700">
            <a:solidFill>
              <a:srgbClr val="232F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81598" y="4095598"/>
            <a:ext cx="5048402" cy="2476195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381598" y="4095598"/>
            <a:ext cx="57607" cy="2476195"/>
          </a:xfrm>
          <a:prstGeom prst="roundRect">
            <a:avLst>
              <a:gd name="adj" fmla="val 97680"/>
            </a:avLst>
          </a:prstGeom>
          <a:solidFill>
            <a:srgbClr val="128733"/>
          </a:solidFill>
          <a:ln w="12700">
            <a:solidFill>
              <a:srgbClr val="1287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47902" y="2428646"/>
            <a:ext cx="1619402" cy="152705"/>
          </a:xfrm>
          <a:prstGeom prst="roundRect">
            <a:avLst>
              <a:gd name="adj" fmla="val 299401"/>
            </a:avLst>
          </a:prstGeom>
          <a:solidFill>
            <a:srgbClr val="D5DB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047902" y="2667305"/>
            <a:ext cx="2000707" cy="152705"/>
          </a:xfrm>
          <a:prstGeom prst="roundRect">
            <a:avLst>
              <a:gd name="adj" fmla="val 299401"/>
            </a:avLst>
          </a:prstGeom>
          <a:solidFill>
            <a:srgbClr val="D13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667805" y="2523744"/>
            <a:ext cx="4476902" cy="152705"/>
          </a:xfrm>
          <a:prstGeom prst="roundRect">
            <a:avLst>
              <a:gd name="adj" fmla="val 598802"/>
            </a:avLst>
          </a:prstGeom>
          <a:solidFill>
            <a:srgbClr val="D5DB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47902" y="5095951"/>
            <a:ext cx="4476902" cy="152705"/>
          </a:xfrm>
          <a:prstGeom prst="roundRect">
            <a:avLst>
              <a:gd name="adj" fmla="val 598802"/>
            </a:avLst>
          </a:prstGeom>
          <a:solidFill>
            <a:srgbClr val="D5DB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667805" y="5000854"/>
            <a:ext cx="2381098" cy="152705"/>
          </a:xfrm>
          <a:prstGeom prst="roundRect">
            <a:avLst>
              <a:gd name="adj" fmla="val 299401"/>
            </a:avLst>
          </a:prstGeom>
          <a:solidFill>
            <a:srgbClr val="D13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667805" y="5238598"/>
            <a:ext cx="1333195" cy="152705"/>
          </a:xfrm>
          <a:prstGeom prst="roundRect">
            <a:avLst>
              <a:gd name="adj" fmla="val 299401"/>
            </a:avLst>
          </a:prstGeom>
          <a:solidFill>
            <a:srgbClr val="1287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667805" y="2523744"/>
            <a:ext cx="3400654" cy="152705"/>
          </a:xfrm>
          <a:prstGeom prst="roundRect">
            <a:avLst>
              <a:gd name="adj" fmla="val 598802"/>
            </a:avLst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047902" y="5095951"/>
            <a:ext cx="847649" cy="152705"/>
          </a:xfrm>
          <a:prstGeom prst="roundRect">
            <a:avLst>
              <a:gd name="adj" fmla="val 598802"/>
            </a:avLst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61695" y="389931"/>
            <a:ext cx="9525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Industry Statistics: Why This Matters</a:t>
            </a:r>
            <a:endParaRPr lang="en-US" sz="31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858500" y="428854"/>
            <a:ext cx="571500" cy="457200"/>
          </a:xfrm>
          <a:prstGeom prst="rect">
            <a:avLst/>
          </a:prstGeom>
        </p:spPr>
      </p:pic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47902" y="1762049"/>
            <a:ext cx="304495" cy="30449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524305" y="1714500"/>
            <a:ext cx="4096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46B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Financial Impact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1524305" y="1886407"/>
            <a:ext cx="409651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$19.5M </a:t>
            </a:r>
            <a:r>
              <a:rPr lang="en-US" sz="1300" b="1" dirty="0">
                <a:solidFill>
                  <a:srgbClr val="D13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+20%</a:t>
            </a:r>
            <a:endParaRPr lang="en-US" sz="33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3190798" y="1961388"/>
            <a:ext cx="190195" cy="17190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2762402" y="2409444"/>
            <a:ext cx="14292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$16.2M (2023 Avg)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3143707" y="2648102"/>
            <a:ext cx="14292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132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$19.5M (2026 Avg)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1047902" y="3000146"/>
            <a:ext cx="4476902" cy="714146"/>
          </a:xfrm>
          <a:prstGeom prst="roundRect">
            <a:avLst>
              <a:gd name="adj" fmla="val 13658"/>
            </a:avLst>
          </a:prstGeom>
          <a:solidFill>
            <a:srgbClr val="FFF8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1047902" y="3000146"/>
            <a:ext cx="38405" cy="714146"/>
          </a:xfrm>
          <a:prstGeom prst="roundRect">
            <a:avLst>
              <a:gd name="adj" fmla="val 253967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 txBox="1"/>
          <p:nvPr/>
        </p:nvSpPr>
        <p:spPr>
          <a:xfrm>
            <a:off x="1218895" y="3095244"/>
            <a:ext cx="41724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this means:</a:t>
            </a:r>
            <a:r>
              <a:rPr lang="en-US" sz="1000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average cost equals ~130 senior engineer salaries. Insider risk is now a board-level financial exposure.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1047902" y="3715207"/>
            <a:ext cx="44769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899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Ponemon Institute, 2026</a:t>
            </a:r>
            <a:endParaRPr lang="en-US" sz="8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67805" y="1762049"/>
            <a:ext cx="304495" cy="30449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144207" y="1714500"/>
            <a:ext cx="4096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46B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Threat Frequency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7144207" y="1886407"/>
            <a:ext cx="633496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76% </a:t>
            </a:r>
            <a:r>
              <a:rPr lang="en-US" sz="1300" b="1" dirty="0">
                <a:solidFill>
                  <a:srgbClr val="546B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 rising incidents</a:t>
            </a:r>
            <a:endParaRPr lang="en-US" sz="3300" dirty="0"/>
          </a:p>
        </p:txBody>
      </p:sp>
      <p:sp>
        <p:nvSpPr>
          <p:cNvPr id="37" name="Text 30"/>
          <p:cNvSpPr txBox="1"/>
          <p:nvPr/>
        </p:nvSpPr>
        <p:spPr>
          <a:xfrm>
            <a:off x="10163556" y="2505456"/>
            <a:ext cx="762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76%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6667805" y="3000146"/>
            <a:ext cx="4476902" cy="714146"/>
          </a:xfrm>
          <a:prstGeom prst="roundRect">
            <a:avLst>
              <a:gd name="adj" fmla="val 1365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6667805" y="3000146"/>
            <a:ext cx="38405" cy="714146"/>
          </a:xfrm>
          <a:prstGeom prst="roundRect">
            <a:avLst>
              <a:gd name="adj" fmla="val 253967"/>
            </a:avLst>
          </a:prstGeom>
          <a:solidFill>
            <a:srgbClr val="232F3E"/>
          </a:solidFill>
          <a:ln w="12700">
            <a:solidFill>
              <a:srgbClr val="232F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 txBox="1"/>
          <p:nvPr/>
        </p:nvSpPr>
        <p:spPr>
          <a:xfrm>
            <a:off x="6838798" y="3095244"/>
            <a:ext cx="41724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this means:</a:t>
            </a:r>
            <a:r>
              <a:rPr lang="en-US" sz="1000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3 out of 4 companies face more insider threats today than last year, driven by remote work and complex cloud permissions.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6667805" y="3715207"/>
            <a:ext cx="44769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899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Securonix Insider Threat Report, 2024</a:t>
            </a:r>
            <a:endParaRPr lang="en-US" sz="8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1047902" y="4334256"/>
            <a:ext cx="381305" cy="304495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1524305" y="4286707"/>
            <a:ext cx="4096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46B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Detection Challenge</a:t>
            </a:r>
            <a:endParaRPr lang="en-US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1524305" y="4457700"/>
            <a:ext cx="6167628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19% </a:t>
            </a:r>
            <a:r>
              <a:rPr lang="en-US" sz="1300" b="1" dirty="0">
                <a:solidFill>
                  <a:srgbClr val="546B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internal actors</a:t>
            </a:r>
            <a:endParaRPr lang="en-US" sz="3300" dirty="0"/>
          </a:p>
        </p:txBody>
      </p:sp>
      <p:sp>
        <p:nvSpPr>
          <p:cNvPr id="45" name="Text 37"/>
          <p:cNvSpPr txBox="1"/>
          <p:nvPr/>
        </p:nvSpPr>
        <p:spPr>
          <a:xfrm>
            <a:off x="2000707" y="5076749"/>
            <a:ext cx="1905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in 5 breaches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1047902" y="5572354"/>
            <a:ext cx="4476902" cy="809244"/>
          </a:xfrm>
          <a:prstGeom prst="roundRect">
            <a:avLst>
              <a:gd name="adj" fmla="val 10635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39"/>
          <p:cNvSpPr/>
          <p:nvPr/>
        </p:nvSpPr>
        <p:spPr>
          <a:xfrm>
            <a:off x="1047902" y="5572354"/>
            <a:ext cx="38405" cy="809244"/>
          </a:xfrm>
          <a:prstGeom prst="roundRect">
            <a:avLst>
              <a:gd name="adj" fmla="val 224088"/>
            </a:avLst>
          </a:prstGeom>
          <a:solidFill>
            <a:srgbClr val="232F3E"/>
          </a:solidFill>
          <a:ln w="12700">
            <a:solidFill>
              <a:srgbClr val="232F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0"/>
          <p:cNvSpPr txBox="1"/>
          <p:nvPr/>
        </p:nvSpPr>
        <p:spPr>
          <a:xfrm>
            <a:off x="1218895" y="5667451"/>
            <a:ext cx="41724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this means:</a:t>
            </a:r>
            <a:r>
              <a:rPr lang="en-US" sz="1000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Traditional perimeter defenses (like firewalls) are completely blind to 20% of attacks because the actors already hold valid access keys.</a:t>
            </a:r>
            <a:endParaRPr 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1047902" y="6381598"/>
            <a:ext cx="44769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899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Verizon DBIR, 2025</a:t>
            </a:r>
            <a:endParaRPr lang="en-US" sz="800" dirty="0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9"/>
          <a:srcRect l="-107" r="-107"/>
          <a:stretch/>
        </p:blipFill>
        <p:spPr>
          <a:xfrm>
            <a:off x="6667805" y="4334256"/>
            <a:ext cx="267005" cy="304495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7144207" y="4286707"/>
            <a:ext cx="4096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46B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The Time Penalty</a:t>
            </a:r>
            <a:endParaRPr lang="en-US" sz="1000" dirty="0"/>
          </a:p>
        </p:txBody>
      </p:sp>
      <p:sp>
        <p:nvSpPr>
          <p:cNvPr id="52" name="Text 43"/>
          <p:cNvSpPr txBox="1"/>
          <p:nvPr/>
        </p:nvSpPr>
        <p:spPr>
          <a:xfrm>
            <a:off x="7144207" y="4457700"/>
            <a:ext cx="633496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28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43% </a:t>
            </a:r>
            <a:r>
              <a:rPr lang="en-US" sz="1300" b="1" dirty="0">
                <a:solidFill>
                  <a:srgbClr val="546B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saved via fast response</a:t>
            </a:r>
            <a:endParaRPr lang="en-US" sz="3300" dirty="0"/>
          </a:p>
        </p:txBody>
      </p:sp>
      <p:sp>
        <p:nvSpPr>
          <p:cNvPr id="53" name="Text 44"/>
          <p:cNvSpPr txBox="1"/>
          <p:nvPr/>
        </p:nvSpPr>
        <p:spPr>
          <a:xfrm>
            <a:off x="9144000" y="4981651"/>
            <a:ext cx="22338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132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$18.7M (&gt;90 Days to contain)</a:t>
            </a:r>
            <a:endParaRPr 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8096098" y="5219395"/>
            <a:ext cx="2095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87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$10.6M (&lt;31 Days)</a:t>
            </a:r>
            <a:endParaRPr lang="en-US" sz="900" dirty="0"/>
          </a:p>
        </p:txBody>
      </p:sp>
      <p:sp>
        <p:nvSpPr>
          <p:cNvPr id="55" name="Shape 46"/>
          <p:cNvSpPr/>
          <p:nvPr/>
        </p:nvSpPr>
        <p:spPr>
          <a:xfrm>
            <a:off x="6667805" y="5572354"/>
            <a:ext cx="4476902" cy="809244"/>
          </a:xfrm>
          <a:prstGeom prst="roundRect">
            <a:avLst>
              <a:gd name="adj" fmla="val 10635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47"/>
          <p:cNvSpPr/>
          <p:nvPr/>
        </p:nvSpPr>
        <p:spPr>
          <a:xfrm>
            <a:off x="6667805" y="5572354"/>
            <a:ext cx="38405" cy="809244"/>
          </a:xfrm>
          <a:prstGeom prst="roundRect">
            <a:avLst>
              <a:gd name="adj" fmla="val 224088"/>
            </a:avLst>
          </a:prstGeom>
          <a:solidFill>
            <a:srgbClr val="128733"/>
          </a:solidFill>
          <a:ln w="12700">
            <a:solidFill>
              <a:srgbClr val="1287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8"/>
          <p:cNvSpPr txBox="1"/>
          <p:nvPr/>
        </p:nvSpPr>
        <p:spPr>
          <a:xfrm>
            <a:off x="6838798" y="5667451"/>
            <a:ext cx="41724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this means:</a:t>
            </a:r>
            <a:r>
              <a:rPr lang="en-US" sz="1000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Speed equals money. Containing an incident in under 31 days slashes the financial impact by $8.1M per incident.</a:t>
            </a:r>
            <a:endParaRPr lang="en-US" sz="1000" dirty="0"/>
          </a:p>
        </p:txBody>
      </p:sp>
      <p:sp>
        <p:nvSpPr>
          <p:cNvPr id="58" name="Text 49"/>
          <p:cNvSpPr txBox="1"/>
          <p:nvPr/>
        </p:nvSpPr>
        <p:spPr>
          <a:xfrm>
            <a:off x="6667805" y="6381598"/>
            <a:ext cx="44769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899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Ponemon Institute, 2025</a:t>
            </a:r>
            <a:endParaRPr lang="en-US" sz="800" dirty="0"/>
          </a:p>
        </p:txBody>
      </p:sp>
      <p:sp>
        <p:nvSpPr>
          <p:cNvPr id="59" name="Text 50"/>
          <p:cNvSpPr txBox="1"/>
          <p:nvPr/>
        </p:nvSpPr>
        <p:spPr>
          <a:xfrm>
            <a:off x="761695" y="6620256"/>
            <a:ext cx="10668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899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Sources: Ponemon Institute (2025-2026), Verizon DBIR 2025, Securonix 2024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5895"/>
            <a:ext cx="12191695" cy="1067105"/>
          </a:xfrm>
          <a:prstGeom prst="rect">
            <a:avLst/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61695" y="2000707"/>
            <a:ext cx="10724998" cy="1047902"/>
          </a:xfrm>
          <a:prstGeom prst="roundRect">
            <a:avLst>
              <a:gd name="adj" fmla="val 6346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61695" y="2000707"/>
            <a:ext cx="57607" cy="1047902"/>
          </a:xfrm>
          <a:prstGeom prst="roundRect">
            <a:avLst>
              <a:gd name="adj" fmla="val 115441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61695" y="3191256"/>
            <a:ext cx="10724998" cy="1047902"/>
          </a:xfrm>
          <a:prstGeom prst="roundRect">
            <a:avLst>
              <a:gd name="adj" fmla="val 6346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61695" y="3191256"/>
            <a:ext cx="57607" cy="1047902"/>
          </a:xfrm>
          <a:prstGeom prst="roundRect">
            <a:avLst>
              <a:gd name="adj" fmla="val 115441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61695" y="4381805"/>
            <a:ext cx="10724998" cy="1047902"/>
          </a:xfrm>
          <a:prstGeom prst="roundRect">
            <a:avLst>
              <a:gd name="adj" fmla="val 6346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61695" y="4381805"/>
            <a:ext cx="57607" cy="1047902"/>
          </a:xfrm>
          <a:prstGeom prst="roundRect">
            <a:avLst>
              <a:gd name="adj" fmla="val 115441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61695" y="5572354"/>
            <a:ext cx="10724998" cy="1047902"/>
          </a:xfrm>
          <a:prstGeom prst="roundRect">
            <a:avLst>
              <a:gd name="adj" fmla="val 6346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61695" y="5572354"/>
            <a:ext cx="57607" cy="1047902"/>
          </a:xfrm>
          <a:prstGeom prst="roundRect">
            <a:avLst>
              <a:gd name="adj" fmla="val 115441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362102"/>
            <a:ext cx="8572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3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-31169" b="-31169"/>
          <a:stretch/>
        </p:blipFill>
        <p:spPr>
          <a:xfrm>
            <a:off x="10858500" y="381305"/>
            <a:ext cx="352044" cy="4572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61695" y="1429207"/>
            <a:ext cx="10668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Current Monitoring Approaches Fail</a:t>
            </a:r>
            <a:endParaRPr lang="en-US" sz="18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30048" b="-30048"/>
          <a:stretch/>
        </p:blipFill>
        <p:spPr>
          <a:xfrm>
            <a:off x="1095451" y="2333549"/>
            <a:ext cx="237744" cy="3044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14500" y="2143354"/>
            <a:ext cx="9335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Noisy &amp; Event-Centric Alerts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714500" y="2428646"/>
            <a:ext cx="9335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detections monitor isolated events, producing a high volume of noisy alerts without necessary behavioral context.</a:t>
            </a:r>
            <a:endParaRPr lang="en-US" sz="13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t="-30048" b="-30048"/>
          <a:stretch/>
        </p:blipFill>
        <p:spPr>
          <a:xfrm>
            <a:off x="1095451" y="3524098"/>
            <a:ext cx="237744" cy="3044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714500" y="3333902"/>
            <a:ext cx="9335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Ambiguity of Intent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714500" y="3619195"/>
            <a:ext cx="9335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Single-event rules struggle to distinguish careless errors and negligence from malicious intent or active account compromise.</a:t>
            </a:r>
            <a:endParaRPr lang="en-US" sz="13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t="-30048" b="-30048"/>
          <a:stretch/>
        </p:blipFill>
        <p:spPr>
          <a:xfrm>
            <a:off x="1095451" y="4714646"/>
            <a:ext cx="237744" cy="3044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14500" y="4524451"/>
            <a:ext cx="9335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Expanding Cloud Exposure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1714500" y="4809744"/>
            <a:ext cx="9335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 complexity (SaaS, APIs, remote work, AI tools) widens identity exposure significantly beyond traditional network perimeters.</a:t>
            </a:r>
            <a:endParaRPr lang="en-US" sz="13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rcRect t="-14038" b="-14038"/>
          <a:stretch/>
        </p:blipFill>
        <p:spPr>
          <a:xfrm>
            <a:off x="1095451" y="5905195"/>
            <a:ext cx="237744" cy="30449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714500" y="5715000"/>
            <a:ext cx="9335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Lack of Contextual Analytics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1714500" y="6001207"/>
            <a:ext cx="9335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critical need exists for action-sequence analytics, role-aware baselining, and automated risk score decay to prioritize real threats.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5895"/>
            <a:ext cx="12191695" cy="1143000"/>
          </a:xfrm>
          <a:prstGeom prst="rect">
            <a:avLst/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761695" y="2190902"/>
            <a:ext cx="2381098" cy="434340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3524098" y="2190902"/>
            <a:ext cx="2381098" cy="434340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6286500" y="2190902"/>
            <a:ext cx="2381098" cy="4343400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9048902" y="2190902"/>
            <a:ext cx="2381098" cy="4343400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761695" y="381305"/>
            <a:ext cx="8572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Goals</a:t>
            </a:r>
            <a:endParaRPr lang="en-US" sz="310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428854"/>
            <a:ext cx="571500" cy="457200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761695" y="1524305"/>
            <a:ext cx="10668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objectives for developing the AWS-native detection system:</a:t>
            </a:r>
            <a:endParaRPr lang="en-US" sz="1600" dirty="0"/>
          </a:p>
        </p:txBody>
      </p:sp>
      <p:sp>
        <p:nvSpPr>
          <p:cNvPr id="13" name="Text 5"/>
          <p:cNvSpPr txBox="1"/>
          <p:nvPr/>
        </p:nvSpPr>
        <p:spPr>
          <a:xfrm>
            <a:off x="2190902" y="2286000"/>
            <a:ext cx="762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F4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6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86154" y="2667305"/>
            <a:ext cx="533095" cy="533095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857707" y="3715207"/>
            <a:ext cx="21909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 Threats Across Planes</a:t>
            </a:r>
            <a:endParaRPr lang="en-US" sz="1500" dirty="0"/>
          </a:p>
        </p:txBody>
      </p:sp>
      <p:sp>
        <p:nvSpPr>
          <p:cNvPr id="16" name="Text 7"/>
          <p:cNvSpPr txBox="1"/>
          <p:nvPr/>
        </p:nvSpPr>
        <p:spPr>
          <a:xfrm>
            <a:off x="857707" y="4476902"/>
            <a:ext cx="2190902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 and detect suspicious activities natively across Amazon S3, IAM, and VPC resources.</a:t>
            </a:r>
            <a:endParaRPr lang="en-US" sz="1200" dirty="0"/>
          </a:p>
        </p:txBody>
      </p:sp>
      <p:sp>
        <p:nvSpPr>
          <p:cNvPr id="17" name="Text 8"/>
          <p:cNvSpPr txBox="1"/>
          <p:nvPr/>
        </p:nvSpPr>
        <p:spPr>
          <a:xfrm>
            <a:off x="4953305" y="2286000"/>
            <a:ext cx="762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F4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7"/>
          <a:srcRect l="-17" r="-17"/>
          <a:stretch/>
        </p:blipFill>
        <p:spPr>
          <a:xfrm>
            <a:off x="4381805" y="2667305"/>
            <a:ext cx="666598" cy="533095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3619195" y="3715207"/>
            <a:ext cx="21909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 Behavior &amp; Baselines</a:t>
            </a:r>
            <a:endParaRPr lang="en-US" sz="1500" dirty="0"/>
          </a:p>
        </p:txBody>
      </p:sp>
      <p:sp>
        <p:nvSpPr>
          <p:cNvPr id="20" name="Text 10"/>
          <p:cNvSpPr txBox="1"/>
          <p:nvPr/>
        </p:nvSpPr>
        <p:spPr>
          <a:xfrm>
            <a:off x="3619195" y="4476902"/>
            <a:ext cx="2190902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and analyze user behavior using historical usage and role-specific persona baselines.</a:t>
            </a:r>
            <a:endParaRPr lang="en-US" sz="1200" dirty="0"/>
          </a:p>
        </p:txBody>
      </p:sp>
      <p:sp>
        <p:nvSpPr>
          <p:cNvPr id="21" name="Text 11"/>
          <p:cNvSpPr txBox="1"/>
          <p:nvPr/>
        </p:nvSpPr>
        <p:spPr>
          <a:xfrm>
            <a:off x="7715707" y="2286000"/>
            <a:ext cx="762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F4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6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8"/>
          <a:srcRect l="-10" r="-10"/>
          <a:stretch/>
        </p:blipFill>
        <p:spPr>
          <a:xfrm>
            <a:off x="7177126" y="2667305"/>
            <a:ext cx="599846" cy="533095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6381598" y="3715207"/>
            <a:ext cx="21909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Reduce False Positives</a:t>
            </a:r>
            <a:endParaRPr lang="en-US" sz="1500" dirty="0"/>
          </a:p>
        </p:txBody>
      </p:sp>
      <p:sp>
        <p:nvSpPr>
          <p:cNvPr id="24" name="Text 13"/>
          <p:cNvSpPr txBox="1"/>
          <p:nvPr/>
        </p:nvSpPr>
        <p:spPr>
          <a:xfrm>
            <a:off x="6381598" y="4476902"/>
            <a:ext cx="2190902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Minimize operational noise by employing alert cooldowns, threshold suppression, and risk decay.</a:t>
            </a:r>
            <a:endParaRPr lang="en-US" sz="1200" dirty="0"/>
          </a:p>
        </p:txBody>
      </p:sp>
      <p:sp>
        <p:nvSpPr>
          <p:cNvPr id="25" name="Text 14"/>
          <p:cNvSpPr txBox="1"/>
          <p:nvPr/>
        </p:nvSpPr>
        <p:spPr>
          <a:xfrm>
            <a:off x="10477195" y="2286000"/>
            <a:ext cx="762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F4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6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9"/>
          <a:srcRect t="-12" b="-12"/>
          <a:stretch/>
        </p:blipFill>
        <p:spPr>
          <a:xfrm>
            <a:off x="10006279" y="2667305"/>
            <a:ext cx="466344" cy="533095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9144000" y="3715207"/>
            <a:ext cx="21909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 Actionable Alerts</a:t>
            </a:r>
            <a:endParaRPr lang="en-US" sz="1500" dirty="0"/>
          </a:p>
        </p:txBody>
      </p:sp>
      <p:sp>
        <p:nvSpPr>
          <p:cNvPr id="28" name="Text 16"/>
          <p:cNvSpPr txBox="1"/>
          <p:nvPr/>
        </p:nvSpPr>
        <p:spPr>
          <a:xfrm>
            <a:off x="9144000" y="4476902"/>
            <a:ext cx="2190902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 explainable, tiered notifications (Medium, High, Critical) ensuring rapid investigation.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5" y="-75895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5895"/>
            <a:ext cx="12191695" cy="893213"/>
          </a:xfrm>
          <a:prstGeom prst="rect">
            <a:avLst/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5555" y="1030014"/>
            <a:ext cx="11430000" cy="557755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1695" y="286207"/>
            <a:ext cx="8572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AWS-Native Solution Architecture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761695" y="6197600"/>
            <a:ext cx="10668305" cy="412598"/>
          </a:xfrm>
          <a:prstGeom prst="roundRect">
            <a:avLst>
              <a:gd name="adj" fmla="val 1612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761695" y="6088184"/>
            <a:ext cx="10668305" cy="5220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14300" rIns="190500" bIns="1143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Monitored Planes: S3, IAM, VPC | Telemetry: CloudTrail, GuardDuty | Processing: CloudWatch, EventBridge, Lambda | State &amp; Alerts: DynamoDB, SNS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5895"/>
            <a:ext cx="12191695" cy="952805"/>
          </a:xfrm>
          <a:prstGeom prst="rect">
            <a:avLst/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61695" y="1714500"/>
            <a:ext cx="2190902" cy="523951"/>
          </a:xfrm>
          <a:prstGeom prst="roundRect">
            <a:avLst>
              <a:gd name="adj" fmla="val 174520"/>
            </a:avLst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524098" y="1714500"/>
            <a:ext cx="2190902" cy="523951"/>
          </a:xfrm>
          <a:prstGeom prst="roundRect">
            <a:avLst>
              <a:gd name="adj" fmla="val 174520"/>
            </a:avLst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286500" y="1714500"/>
            <a:ext cx="2190902" cy="523951"/>
          </a:xfrm>
          <a:prstGeom prst="roundRect">
            <a:avLst>
              <a:gd name="adj" fmla="val 174520"/>
            </a:avLst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048902" y="1714500"/>
            <a:ext cx="2381098" cy="523951"/>
          </a:xfrm>
          <a:prstGeom prst="roundRect">
            <a:avLst>
              <a:gd name="adj" fmla="val 174520"/>
            </a:avLst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61695" y="3095244"/>
            <a:ext cx="2000707" cy="1714500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61695" y="3095244"/>
            <a:ext cx="2000707" cy="47549"/>
          </a:xfrm>
          <a:prstGeom prst="roundRect">
            <a:avLst>
              <a:gd name="adj" fmla="val 170939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952598" y="3095244"/>
            <a:ext cx="2000707" cy="1714500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952598" y="3095244"/>
            <a:ext cx="2000707" cy="47549"/>
          </a:xfrm>
          <a:prstGeom prst="roundRect">
            <a:avLst>
              <a:gd name="adj" fmla="val 170939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143500" y="3095244"/>
            <a:ext cx="2000707" cy="1714500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143500" y="3095244"/>
            <a:ext cx="2000707" cy="47549"/>
          </a:xfrm>
          <a:prstGeom prst="roundRect">
            <a:avLst>
              <a:gd name="adj" fmla="val 170939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334402" y="3095244"/>
            <a:ext cx="2000707" cy="1714500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334402" y="3095244"/>
            <a:ext cx="2000707" cy="47549"/>
          </a:xfrm>
          <a:prstGeom prst="roundRect">
            <a:avLst>
              <a:gd name="adj" fmla="val 170939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525305" y="3095244"/>
            <a:ext cx="2000707" cy="1714500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9525305" y="3095244"/>
            <a:ext cx="2000707" cy="47549"/>
          </a:xfrm>
          <a:prstGeom prst="roundRect">
            <a:avLst>
              <a:gd name="adj" fmla="val 170939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t="-20" b="-20"/>
          <a:stretch/>
        </p:blipFill>
        <p:spPr>
          <a:xfrm>
            <a:off x="761695" y="5524805"/>
            <a:ext cx="3390595" cy="952805"/>
          </a:xfrm>
          <a:prstGeom prst="rect">
            <a:avLst/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rcRect t="-20" b="-20"/>
          <a:stretch/>
        </p:blipFill>
        <p:spPr>
          <a:xfrm>
            <a:off x="4429354" y="5524805"/>
            <a:ext cx="3390595" cy="952805"/>
          </a:xfrm>
          <a:prstGeom prst="rect">
            <a:avLst/>
          </a:prstGeom>
        </p:spPr>
      </p:pic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rcRect t="-20" b="-20"/>
          <a:stretch/>
        </p:blipFill>
        <p:spPr>
          <a:xfrm>
            <a:off x="8096098" y="5524805"/>
            <a:ext cx="3390595" cy="9528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61695" y="286207"/>
            <a:ext cx="8572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Action-Centric Threat Model</a:t>
            </a:r>
            <a:endParaRPr lang="en-US" sz="31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rcRect l="-44" r="-44"/>
          <a:stretch/>
        </p:blipFill>
        <p:spPr>
          <a:xfrm>
            <a:off x="10882274" y="362102"/>
            <a:ext cx="523951" cy="4187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61695" y="1285646"/>
            <a:ext cx="2857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Principles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1857146"/>
            <a:ext cx="2190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Observe Actions</a:t>
            </a:r>
            <a:endParaRPr lang="en-US" sz="13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rcRect t="-600" b="-600"/>
          <a:stretch/>
        </p:blipFill>
        <p:spPr>
          <a:xfrm>
            <a:off x="3148279" y="1867205"/>
            <a:ext cx="181051" cy="20939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3524098" y="1857146"/>
            <a:ext cx="2190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Score Deviations</a:t>
            </a:r>
            <a:endParaRPr lang="en-US" sz="13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6"/>
          <a:srcRect t="-600" b="-600"/>
          <a:stretch/>
        </p:blipFill>
        <p:spPr>
          <a:xfrm>
            <a:off x="5910682" y="1867205"/>
            <a:ext cx="181051" cy="20939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286500" y="1857146"/>
            <a:ext cx="2190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Accumulate Risk</a:t>
            </a:r>
            <a:endParaRPr lang="en-US" sz="13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6"/>
          <a:srcRect t="-600" b="-600"/>
          <a:stretch/>
        </p:blipFill>
        <p:spPr>
          <a:xfrm>
            <a:off x="8672170" y="1867205"/>
            <a:ext cx="181051" cy="209398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9048902" y="1857146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Explain Outcomes</a:t>
            </a:r>
            <a:endParaRPr lang="en-US" sz="1300" dirty="0"/>
          </a:p>
        </p:txBody>
      </p:sp>
      <p:sp>
        <p:nvSpPr>
          <p:cNvPr id="33" name="Text 23"/>
          <p:cNvSpPr txBox="1"/>
          <p:nvPr/>
        </p:nvSpPr>
        <p:spPr>
          <a:xfrm>
            <a:off x="761695" y="2619756"/>
            <a:ext cx="4763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Observable Action Classes</a:t>
            </a:r>
            <a:endParaRPr lang="en-US" sz="16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561795" y="3372307"/>
            <a:ext cx="400507" cy="400507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857707" y="3952951"/>
            <a:ext cx="1810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Boundary Crossing</a:t>
            </a:r>
            <a:endParaRPr lang="en-US" sz="1300" dirty="0"/>
          </a:p>
        </p:txBody>
      </p:sp>
      <p:sp>
        <p:nvSpPr>
          <p:cNvPr id="36" name="Text 25"/>
          <p:cNvSpPr txBox="1"/>
          <p:nvPr/>
        </p:nvSpPr>
        <p:spPr>
          <a:xfrm>
            <a:off x="857707" y="4234586"/>
            <a:ext cx="1810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Denied object access</a:t>
            </a:r>
            <a:endParaRPr lang="en-US" sz="9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752698" y="3372307"/>
            <a:ext cx="400507" cy="400507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3047695" y="3952951"/>
            <a:ext cx="1810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 Weakening</a:t>
            </a:r>
            <a:endParaRPr lang="en-US" sz="1300" dirty="0"/>
          </a:p>
        </p:txBody>
      </p:sp>
      <p:sp>
        <p:nvSpPr>
          <p:cNvPr id="39" name="Text 27"/>
          <p:cNvSpPr txBox="1"/>
          <p:nvPr/>
        </p:nvSpPr>
        <p:spPr>
          <a:xfrm>
            <a:off x="3047695" y="4234586"/>
            <a:ext cx="1810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group abuse</a:t>
            </a:r>
            <a:endParaRPr lang="en-US" sz="90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943600" y="3372307"/>
            <a:ext cx="400507" cy="400507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5238598" y="3952951"/>
            <a:ext cx="1810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42" name="Text 29"/>
          <p:cNvSpPr txBox="1"/>
          <p:nvPr/>
        </p:nvSpPr>
        <p:spPr>
          <a:xfrm>
            <a:off x="5238598" y="4234586"/>
            <a:ext cx="1810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Privilege escalation</a:t>
            </a:r>
            <a:endParaRPr lang="en-US" sz="900" dirty="0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134502" y="3372307"/>
            <a:ext cx="400507" cy="400507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7429500" y="3952951"/>
            <a:ext cx="1810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Reconnaissance</a:t>
            </a:r>
            <a:endParaRPr lang="en-US" sz="1300" dirty="0"/>
          </a:p>
        </p:txBody>
      </p:sp>
      <p:sp>
        <p:nvSpPr>
          <p:cNvPr id="45" name="Text 31"/>
          <p:cNvSpPr txBox="1"/>
          <p:nvPr/>
        </p:nvSpPr>
        <p:spPr>
          <a:xfrm>
            <a:off x="7429500" y="4234586"/>
            <a:ext cx="1810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Sensitive folder probing</a:t>
            </a:r>
            <a:endParaRPr lang="en-US" sz="900" dirty="0"/>
          </a:p>
        </p:txBody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1"/>
          <a:srcRect t="-281" b="-281"/>
          <a:stretch/>
        </p:blipFill>
        <p:spPr>
          <a:xfrm>
            <a:off x="10301630" y="3372307"/>
            <a:ext cx="448056" cy="400507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9478670" y="3952951"/>
            <a:ext cx="209214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Escalating Sequence</a:t>
            </a:r>
            <a:endParaRPr lang="en-US" sz="1300" dirty="0"/>
          </a:p>
        </p:txBody>
      </p:sp>
      <p:sp>
        <p:nvSpPr>
          <p:cNvPr id="48" name="Text 33"/>
          <p:cNvSpPr txBox="1"/>
          <p:nvPr/>
        </p:nvSpPr>
        <p:spPr>
          <a:xfrm>
            <a:off x="9620402" y="4234586"/>
            <a:ext cx="1810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Accumulating risk steps</a:t>
            </a:r>
            <a:endParaRPr lang="en-US" sz="900" dirty="0"/>
          </a:p>
        </p:txBody>
      </p:sp>
      <p:sp>
        <p:nvSpPr>
          <p:cNvPr id="49" name="Text 34"/>
          <p:cNvSpPr txBox="1"/>
          <p:nvPr/>
        </p:nvSpPr>
        <p:spPr>
          <a:xfrm>
            <a:off x="761695" y="5095951"/>
            <a:ext cx="3810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Action-Centric?</a:t>
            </a:r>
            <a:endParaRPr lang="en-US" sz="1600" dirty="0"/>
          </a:p>
        </p:txBody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52805" y="5810098"/>
            <a:ext cx="342900" cy="342900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1476756" y="5667451"/>
            <a:ext cx="2477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52" name="Text 36"/>
          <p:cNvSpPr txBox="1"/>
          <p:nvPr/>
        </p:nvSpPr>
        <p:spPr>
          <a:xfrm>
            <a:off x="1476756" y="5943600"/>
            <a:ext cx="2477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Alerts tie directly to concrete, observable AWS actions.</a:t>
            </a:r>
            <a:endParaRPr lang="en-US" sz="1100" dirty="0"/>
          </a:p>
        </p:txBody>
      </p:sp>
      <p:pic>
        <p:nvPicPr>
          <p:cNvPr id="53" name="Image 14" descr="preencoded.png"/>
          <p:cNvPicPr>
            <a:picLocks noChangeAspect="1"/>
          </p:cNvPicPr>
          <p:nvPr/>
        </p:nvPicPr>
        <p:blipFill>
          <a:blip r:embed="rId13"/>
          <a:srcRect l="-27" r="-27"/>
          <a:stretch/>
        </p:blipFill>
        <p:spPr>
          <a:xfrm>
            <a:off x="4619549" y="5810098"/>
            <a:ext cx="428854" cy="342900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5143500" y="5667451"/>
            <a:ext cx="2477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Role Reuse</a:t>
            </a:r>
            <a:endParaRPr lang="en-US" sz="1300" dirty="0"/>
          </a:p>
        </p:txBody>
      </p:sp>
      <p:sp>
        <p:nvSpPr>
          <p:cNvPr id="55" name="Text 38"/>
          <p:cNvSpPr txBox="1"/>
          <p:nvPr/>
        </p:nvSpPr>
        <p:spPr>
          <a:xfrm>
            <a:off x="5143500" y="5943600"/>
            <a:ext cx="24771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consistent logic engine evaluates multiple simulated personas.</a:t>
            </a:r>
            <a:endParaRPr lang="en-US" sz="1100" dirty="0"/>
          </a:p>
        </p:txBody>
      </p:sp>
      <p:pic>
        <p:nvPicPr>
          <p:cNvPr id="56" name="Image 15" descr="preencoded.png"/>
          <p:cNvPicPr>
            <a:picLocks noChangeAspect="1"/>
          </p:cNvPicPr>
          <p:nvPr/>
        </p:nvPicPr>
        <p:blipFill>
          <a:blip r:embed="rId14"/>
          <a:srcRect l="-743" r="-743"/>
          <a:stretch/>
        </p:blipFill>
        <p:spPr>
          <a:xfrm>
            <a:off x="8287207" y="5810098"/>
            <a:ext cx="304495" cy="342900"/>
          </a:xfrm>
          <a:prstGeom prst="rect">
            <a:avLst/>
          </a:prstGeom>
        </p:spPr>
      </p:pic>
      <p:sp>
        <p:nvSpPr>
          <p:cNvPr id="57" name="Text 39"/>
          <p:cNvSpPr txBox="1"/>
          <p:nvPr/>
        </p:nvSpPr>
        <p:spPr>
          <a:xfrm>
            <a:off x="8810244" y="5667451"/>
            <a:ext cx="2477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Motive-Agnostic</a:t>
            </a:r>
            <a:endParaRPr lang="en-US" sz="1300" dirty="0"/>
          </a:p>
        </p:txBody>
      </p:sp>
      <p:sp>
        <p:nvSpPr>
          <p:cNvPr id="58" name="Text 40"/>
          <p:cNvSpPr txBox="1"/>
          <p:nvPr/>
        </p:nvSpPr>
        <p:spPr>
          <a:xfrm>
            <a:off x="8810244" y="5943600"/>
            <a:ext cx="2477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Detects organizational risk regardless of internal intent.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26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5895"/>
            <a:ext cx="12191695" cy="952805"/>
          </a:xfrm>
          <a:prstGeom prst="rect">
            <a:avLst/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61695" y="5572354"/>
            <a:ext cx="10744200" cy="952805"/>
          </a:xfrm>
          <a:prstGeom prst="roundRect">
            <a:avLst>
              <a:gd name="adj" fmla="val 7678"/>
            </a:avLst>
          </a:prstGeom>
          <a:solidFill>
            <a:srgbClr val="232F3E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61695" y="5572354"/>
            <a:ext cx="75895" cy="952805"/>
          </a:xfrm>
          <a:prstGeom prst="roundRect">
            <a:avLst>
              <a:gd name="adj" fmla="val 96386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61695" y="286207"/>
            <a:ext cx="919703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Detection Criteria &amp; Weighted Scoring</a:t>
            </a:r>
            <a:endParaRPr lang="en-US" sz="3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44" r="-44"/>
          <a:stretch/>
        </p:blipFill>
        <p:spPr>
          <a:xfrm>
            <a:off x="10929823" y="409651"/>
            <a:ext cx="523951" cy="418795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238098"/>
          <a:ext cx="10668306" cy="3743551"/>
        </p:xfrm>
        <a:graphic>
          <a:graphicData uri="http://schemas.openxmlformats.org/drawingml/2006/table">
            <a:tbl>
              <a:tblPr/>
              <a:tblGrid>
                <a:gridCol w="3240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4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3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47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Action Category</a:t>
                      </a:r>
                      <a:endParaRPr lang="en-US" sz="13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Observable Evidence</a:t>
                      </a:r>
                      <a:endParaRPr lang="en-US" sz="13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Risk Points</a:t>
                      </a:r>
                      <a:endParaRPr lang="en-US" sz="13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7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32F3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Unauthorized S3 access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46B82"/>
                          </a:solidFill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GetObject with AccessDenied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46B82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+2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7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32F3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Sensitive folder targeting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46B82"/>
                          </a:solidFill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Executive/* or IT/* access attempts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39C12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+5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7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32F3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VPC/security group abuse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46B82"/>
                          </a:solidFill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AuthorizeSecurityGroupIngress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67E22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+7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7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32F3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High-risk infrastructure change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46B82"/>
                          </a:solidFill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DeleteSecurityGroup, CreateRoute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13212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+10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7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32F3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IAM privilege escalation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46B82"/>
                          </a:solidFill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CreateAccessKey, AttachUserPolicy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13212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+10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7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32F3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GuardDuty managed finding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46B82"/>
                          </a:solidFill>
                          <a:latin typeface="monospace" pitchFamily="34" charset="0"/>
                          <a:ea typeface="monospace" pitchFamily="34" charset="-122"/>
                          <a:cs typeface="monospace" pitchFamily="34" charset="-120"/>
                        </a:rPr>
                        <a:t>Recon / UnauthorizedAccess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13212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+5 to +10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1171346" y="5896051"/>
            <a:ext cx="228600" cy="30449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619402" y="5667451"/>
            <a:ext cx="9525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Historical Profiling Policy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1619402" y="5905195"/>
            <a:ext cx="9525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reduce false positives and operational noise, historical anomaly points (e.g., new IPs or unusual event types) are only awarded to amplify an </a:t>
            </a: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already suspicious base event</a:t>
            </a: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761695" y="6572707"/>
            <a:ext cx="10668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899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Common Vulnerability Scoring System - CVSS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5895"/>
            <a:ext cx="12191695" cy="952805"/>
          </a:xfrm>
          <a:prstGeom prst="rect">
            <a:avLst/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61695" y="1904695"/>
            <a:ext cx="5143500" cy="2238451"/>
          </a:xfrm>
          <a:prstGeom prst="roundRect">
            <a:avLst>
              <a:gd name="adj" fmla="val 2781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61695" y="1904695"/>
            <a:ext cx="57607" cy="2238451"/>
          </a:xfrm>
          <a:prstGeom prst="roundRect">
            <a:avLst>
              <a:gd name="adj" fmla="val 108072"/>
            </a:avLst>
          </a:prstGeom>
          <a:solidFill>
            <a:srgbClr val="1D8102"/>
          </a:solidFill>
          <a:ln w="12700">
            <a:solidFill>
              <a:srgbClr val="1D81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095451" y="2809951"/>
            <a:ext cx="4476902" cy="91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86500" y="1904695"/>
            <a:ext cx="5143500" cy="2238451"/>
          </a:xfrm>
          <a:prstGeom prst="roundRect">
            <a:avLst>
              <a:gd name="adj" fmla="val 2781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286500" y="1904695"/>
            <a:ext cx="57607" cy="2238451"/>
          </a:xfrm>
          <a:prstGeom prst="roundRect">
            <a:avLst>
              <a:gd name="adj" fmla="val 108072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6620256" y="2809951"/>
            <a:ext cx="4476902" cy="914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61695" y="4334256"/>
            <a:ext cx="5143500" cy="2238451"/>
          </a:xfrm>
          <a:prstGeom prst="roundRect">
            <a:avLst>
              <a:gd name="adj" fmla="val 2781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761695" y="4334256"/>
            <a:ext cx="57607" cy="2238451"/>
          </a:xfrm>
          <a:prstGeom prst="roundRect">
            <a:avLst>
              <a:gd name="adj" fmla="val 108072"/>
            </a:avLst>
          </a:prstGeom>
          <a:solidFill>
            <a:srgbClr val="D13212"/>
          </a:solidFill>
          <a:ln w="12700">
            <a:solidFill>
              <a:srgbClr val="D132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095451" y="5238598"/>
            <a:ext cx="4476902" cy="914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286500" y="4334256"/>
            <a:ext cx="5143500" cy="2238451"/>
          </a:xfrm>
          <a:prstGeom prst="roundRect">
            <a:avLst>
              <a:gd name="adj" fmla="val 2781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6286500" y="4334256"/>
            <a:ext cx="57607" cy="2238451"/>
          </a:xfrm>
          <a:prstGeom prst="roundRect">
            <a:avLst>
              <a:gd name="adj" fmla="val 108072"/>
            </a:avLst>
          </a:prstGeom>
          <a:solidFill>
            <a:srgbClr val="800000"/>
          </a:solidFill>
          <a:ln w="12700">
            <a:solidFill>
              <a:srgbClr val="8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6620256" y="5238598"/>
            <a:ext cx="4476902" cy="91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61695" y="286207"/>
            <a:ext cx="8572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Monitored Personas</a:t>
            </a:r>
            <a:endParaRPr lang="en-US" sz="3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rcRect t="-30861" b="-30861"/>
          <a:stretch/>
        </p:blipFill>
        <p:spPr>
          <a:xfrm>
            <a:off x="10981944" y="362102"/>
            <a:ext cx="323698" cy="41879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61695" y="1238098"/>
            <a:ext cx="106683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Simulated identities testing the system's ability to differentiate baseline activity, careless mistakes, deliberate misuse, and stolen credentials.</a:t>
            </a:r>
            <a:endParaRPr lang="en-US" sz="13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6"/>
          <a:srcRect t="-30689" b="-30689"/>
          <a:stretch/>
        </p:blipFill>
        <p:spPr>
          <a:xfrm>
            <a:off x="1185977" y="2238451"/>
            <a:ext cx="295351" cy="381305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714500" y="2143354"/>
            <a:ext cx="3810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Developer</a:t>
            </a:r>
            <a:endParaRPr lang="en-US" sz="1600" dirty="0"/>
          </a:p>
        </p:txBody>
      </p:sp>
      <p:sp>
        <p:nvSpPr>
          <p:cNvPr id="23" name="Text 14"/>
          <p:cNvSpPr txBox="1"/>
          <p:nvPr/>
        </p:nvSpPr>
        <p:spPr>
          <a:xfrm>
            <a:off x="1714500" y="2438705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8" dirty="0">
                <a:solidFill>
                  <a:srgbClr val="1D810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Engineering Baseline</a:t>
            </a:r>
            <a:endParaRPr lang="en-US" sz="1100" dirty="0"/>
          </a:p>
        </p:txBody>
      </p:sp>
      <p:sp>
        <p:nvSpPr>
          <p:cNvPr id="24" name="Text 15"/>
          <p:cNvSpPr txBox="1"/>
          <p:nvPr/>
        </p:nvSpPr>
        <p:spPr>
          <a:xfrm>
            <a:off x="1285646" y="2952598"/>
            <a:ext cx="4429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Scope:</a:t>
            </a:r>
            <a:r>
              <a:rPr lang="en-US" sz="11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Engineering data access; normal reads</a:t>
            </a:r>
            <a:endParaRPr lang="en-US" sz="1100" dirty="0"/>
          </a:p>
        </p:txBody>
      </p:sp>
      <p:sp>
        <p:nvSpPr>
          <p:cNvPr id="25" name="Text 16"/>
          <p:cNvSpPr txBox="1"/>
          <p:nvPr/>
        </p:nvSpPr>
        <p:spPr>
          <a:xfrm>
            <a:off x="1285646" y="3181198"/>
            <a:ext cx="4829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Behavior:</a:t>
            </a:r>
            <a:r>
              <a:rPr lang="en-US" sz="11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Expected usage within defined role boundaries</a:t>
            </a:r>
            <a:endParaRPr lang="en-US" sz="1100" dirty="0"/>
          </a:p>
        </p:txBody>
      </p:sp>
      <p:sp>
        <p:nvSpPr>
          <p:cNvPr id="26" name="Text 17"/>
          <p:cNvSpPr txBox="1"/>
          <p:nvPr/>
        </p:nvSpPr>
        <p:spPr>
          <a:xfrm>
            <a:off x="1285646" y="3409798"/>
            <a:ext cx="5115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Outcome:</a:t>
            </a:r>
            <a:r>
              <a:rPr lang="en-US" sz="11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Clean baseline preserved, generating 0 risk points</a:t>
            </a:r>
            <a:endParaRPr lang="en-US" sz="11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7"/>
          <a:srcRect t="-30689" b="-30689"/>
          <a:stretch/>
        </p:blipFill>
        <p:spPr>
          <a:xfrm>
            <a:off x="6710782" y="2238451"/>
            <a:ext cx="295351" cy="381305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7239305" y="2143354"/>
            <a:ext cx="3810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Negligent-User</a:t>
            </a:r>
            <a:endParaRPr lang="en-US" sz="1600" dirty="0"/>
          </a:p>
        </p:txBody>
      </p:sp>
      <p:sp>
        <p:nvSpPr>
          <p:cNvPr id="29" name="Text 19"/>
          <p:cNvSpPr txBox="1"/>
          <p:nvPr/>
        </p:nvSpPr>
        <p:spPr>
          <a:xfrm>
            <a:off x="7239305" y="2438705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8" dirty="0">
                <a:solidFill>
                  <a:srgbClr val="FF99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Careless Mistake Simulation</a:t>
            </a:r>
            <a:endParaRPr lang="en-US" sz="1100" dirty="0"/>
          </a:p>
        </p:txBody>
      </p:sp>
      <p:sp>
        <p:nvSpPr>
          <p:cNvPr id="30" name="Text 20"/>
          <p:cNvSpPr txBox="1"/>
          <p:nvPr/>
        </p:nvSpPr>
        <p:spPr>
          <a:xfrm>
            <a:off x="6810451" y="295259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Scope:</a:t>
            </a:r>
            <a:r>
              <a:rPr lang="en-US" sz="11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Engineering access + accidental out-of-bounds</a:t>
            </a:r>
            <a:endParaRPr lang="en-US" sz="1100" dirty="0"/>
          </a:p>
        </p:txBody>
      </p:sp>
      <p:sp>
        <p:nvSpPr>
          <p:cNvPr id="31" name="Text 21"/>
          <p:cNvSpPr txBox="1"/>
          <p:nvPr/>
        </p:nvSpPr>
        <p:spPr>
          <a:xfrm>
            <a:off x="6810451" y="3181198"/>
            <a:ext cx="5000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Behavior:</a:t>
            </a:r>
            <a:r>
              <a:rPr lang="en-US" sz="11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Low volume, occasional mistakes, non-persistent</a:t>
            </a:r>
            <a:endParaRPr lang="en-US" sz="1100" dirty="0"/>
          </a:p>
        </p:txBody>
      </p:sp>
      <p:sp>
        <p:nvSpPr>
          <p:cNvPr id="32" name="Text 22"/>
          <p:cNvSpPr txBox="1"/>
          <p:nvPr/>
        </p:nvSpPr>
        <p:spPr>
          <a:xfrm>
            <a:off x="6810451" y="3409798"/>
            <a:ext cx="5086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Outcome:</a:t>
            </a:r>
            <a:r>
              <a:rPr lang="en-US" sz="11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Low/Medium tier isolated alert without escalation</a:t>
            </a:r>
            <a:endParaRPr lang="en-US" sz="11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8"/>
          <a:srcRect t="-6482" b="-6482"/>
          <a:stretch/>
        </p:blipFill>
        <p:spPr>
          <a:xfrm>
            <a:off x="1185977" y="4667098"/>
            <a:ext cx="295351" cy="381305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1714500" y="4572000"/>
            <a:ext cx="3810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MaliciousInsider</a:t>
            </a:r>
            <a:endParaRPr lang="en-US" sz="1600" dirty="0"/>
          </a:p>
        </p:txBody>
      </p:sp>
      <p:sp>
        <p:nvSpPr>
          <p:cNvPr id="35" name="Text 24"/>
          <p:cNvSpPr txBox="1"/>
          <p:nvPr/>
        </p:nvSpPr>
        <p:spPr>
          <a:xfrm>
            <a:off x="1714500" y="4867351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8" dirty="0">
                <a:solidFill>
                  <a:srgbClr val="D132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Authorized Rogue Simulation</a:t>
            </a:r>
            <a:endParaRPr lang="en-US" sz="1100" dirty="0"/>
          </a:p>
        </p:txBody>
      </p:sp>
      <p:sp>
        <p:nvSpPr>
          <p:cNvPr id="36" name="Text 25"/>
          <p:cNvSpPr txBox="1"/>
          <p:nvPr/>
        </p:nvSpPr>
        <p:spPr>
          <a:xfrm>
            <a:off x="1285646" y="5381244"/>
            <a:ext cx="4657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Scope:</a:t>
            </a:r>
            <a:r>
              <a:rPr lang="en-US" sz="11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Authorized Finance data with intentional abuse</a:t>
            </a:r>
            <a:endParaRPr lang="en-US" sz="1100" dirty="0"/>
          </a:p>
        </p:txBody>
      </p:sp>
      <p:sp>
        <p:nvSpPr>
          <p:cNvPr id="37" name="Text 26"/>
          <p:cNvSpPr txBox="1"/>
          <p:nvPr/>
        </p:nvSpPr>
        <p:spPr>
          <a:xfrm>
            <a:off x="1285646" y="5609844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Behavior:</a:t>
            </a:r>
            <a:r>
              <a:rPr lang="en-US" sz="11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Honeyfile targeting, VPC &amp; IAM privilege abuse</a:t>
            </a:r>
            <a:endParaRPr lang="en-US" sz="1100" dirty="0"/>
          </a:p>
        </p:txBody>
      </p:sp>
      <p:sp>
        <p:nvSpPr>
          <p:cNvPr id="38" name="Text 27"/>
          <p:cNvSpPr txBox="1"/>
          <p:nvPr/>
        </p:nvSpPr>
        <p:spPr>
          <a:xfrm>
            <a:off x="1285646" y="5838444"/>
            <a:ext cx="5000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Outcome:</a:t>
            </a:r>
            <a:r>
              <a:rPr lang="en-US" sz="11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Progressive sequence reaching High/Critical risk</a:t>
            </a:r>
            <a:endParaRPr lang="en-US" sz="110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9"/>
          <a:srcRect t="-30689" b="-30689"/>
          <a:stretch/>
        </p:blipFill>
        <p:spPr>
          <a:xfrm>
            <a:off x="6710782" y="4667098"/>
            <a:ext cx="295351" cy="381305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7239305" y="4572000"/>
            <a:ext cx="3810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Compromised-User</a:t>
            </a:r>
            <a:endParaRPr lang="en-US" sz="1600" dirty="0"/>
          </a:p>
        </p:txBody>
      </p:sp>
      <p:sp>
        <p:nvSpPr>
          <p:cNvPr id="41" name="Text 29"/>
          <p:cNvSpPr txBox="1"/>
          <p:nvPr/>
        </p:nvSpPr>
        <p:spPr>
          <a:xfrm>
            <a:off x="7239305" y="4867351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8" dirty="0">
                <a:solidFill>
                  <a:srgbClr val="8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Stolen Credential Simulation</a:t>
            </a:r>
            <a:endParaRPr lang="en-US" sz="1100" dirty="0"/>
          </a:p>
        </p:txBody>
      </p:sp>
      <p:sp>
        <p:nvSpPr>
          <p:cNvPr id="42" name="Text 30"/>
          <p:cNvSpPr txBox="1"/>
          <p:nvPr/>
        </p:nvSpPr>
        <p:spPr>
          <a:xfrm>
            <a:off x="6810451" y="5381244"/>
            <a:ext cx="4829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Scope:</a:t>
            </a:r>
            <a:r>
              <a:rPr lang="en-US" sz="11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Unauthorized broad recon across varied resources</a:t>
            </a:r>
            <a:endParaRPr lang="en-US" sz="1100" dirty="0"/>
          </a:p>
        </p:txBody>
      </p:sp>
      <p:sp>
        <p:nvSpPr>
          <p:cNvPr id="43" name="Text 31"/>
          <p:cNvSpPr txBox="1"/>
          <p:nvPr/>
        </p:nvSpPr>
        <p:spPr>
          <a:xfrm>
            <a:off x="6810451" y="5609844"/>
            <a:ext cx="5115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Behavior:</a:t>
            </a:r>
            <a:r>
              <a:rPr lang="en-US" sz="11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API-driven key validation, aggressive boundary probes</a:t>
            </a:r>
            <a:endParaRPr lang="en-US" sz="1100" dirty="0"/>
          </a:p>
        </p:txBody>
      </p:sp>
      <p:sp>
        <p:nvSpPr>
          <p:cNvPr id="44" name="Text 32"/>
          <p:cNvSpPr txBox="1"/>
          <p:nvPr/>
        </p:nvSpPr>
        <p:spPr>
          <a:xfrm>
            <a:off x="6810451" y="5838444"/>
            <a:ext cx="5115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Outcome:</a:t>
            </a:r>
            <a:r>
              <a:rPr lang="en-US" sz="11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Spiky, high-velocity Critical alerts with abnormal IP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8405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5895"/>
            <a:ext cx="12191695" cy="952805"/>
          </a:xfrm>
          <a:prstGeom prst="rect">
            <a:avLst/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6" r="-6"/>
          <a:stretch/>
        </p:blipFill>
        <p:spPr>
          <a:xfrm>
            <a:off x="761695" y="1429207"/>
            <a:ext cx="10668305" cy="361919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61695" y="5524805"/>
            <a:ext cx="10724998" cy="952805"/>
          </a:xfrm>
          <a:prstGeom prst="roundRect">
            <a:avLst>
              <a:gd name="adj" fmla="val 15355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761695" y="5524805"/>
            <a:ext cx="57607" cy="952805"/>
          </a:xfrm>
          <a:prstGeom prst="roundRect">
            <a:avLst>
              <a:gd name="adj" fmla="val 253969"/>
            </a:avLst>
          </a:prstGeom>
          <a:solidFill>
            <a:srgbClr val="232F3E"/>
          </a:solidFill>
          <a:ln w="12700">
            <a:solidFill>
              <a:srgbClr val="232F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000354" y="2095805"/>
            <a:ext cx="2095805" cy="1561795"/>
          </a:xfrm>
          <a:prstGeom prst="roundRect">
            <a:avLst>
              <a:gd name="adj" fmla="val 4284"/>
            </a:avLst>
          </a:prstGeom>
          <a:solidFill>
            <a:srgbClr val="F2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000354" y="2095805"/>
            <a:ext cx="2095805" cy="38405"/>
          </a:xfrm>
          <a:prstGeom prst="roundRect">
            <a:avLst>
              <a:gd name="adj" fmla="val 174215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666744" y="1809598"/>
            <a:ext cx="2095805" cy="2095805"/>
          </a:xfrm>
          <a:prstGeom prst="roundRect">
            <a:avLst>
              <a:gd name="adj" fmla="val 2380"/>
            </a:avLst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857854" y="4190695"/>
            <a:ext cx="1752905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334049" y="2095805"/>
            <a:ext cx="2095805" cy="1561795"/>
          </a:xfrm>
          <a:prstGeom prst="roundRect">
            <a:avLst>
              <a:gd name="adj" fmla="val 4284"/>
            </a:avLst>
          </a:prstGeom>
          <a:solidFill>
            <a:srgbClr val="F2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334049" y="2095805"/>
            <a:ext cx="2095805" cy="38405"/>
          </a:xfrm>
          <a:prstGeom prst="roundRect">
            <a:avLst>
              <a:gd name="adj" fmla="val 174215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001354" y="1809598"/>
            <a:ext cx="2085746" cy="2133295"/>
          </a:xfrm>
          <a:prstGeom prst="roundRect">
            <a:avLst>
              <a:gd name="adj" fmla="val 2402"/>
            </a:avLst>
          </a:prstGeom>
          <a:solidFill>
            <a:srgbClr val="FFFFFF"/>
          </a:solidFill>
          <a:ln w="25400">
            <a:solidFill>
              <a:srgbClr val="E0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191549" y="2857500"/>
            <a:ext cx="1705356" cy="286207"/>
          </a:xfrm>
          <a:prstGeom prst="roundRect">
            <a:avLst>
              <a:gd name="adj" fmla="val 42599"/>
            </a:avLst>
          </a:prstGeom>
          <a:solidFill>
            <a:srgbClr val="D13212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9191549" y="2857500"/>
            <a:ext cx="38405" cy="286207"/>
          </a:xfrm>
          <a:prstGeom prst="roundRect">
            <a:avLst>
              <a:gd name="adj" fmla="val 317459"/>
            </a:avLst>
          </a:prstGeom>
          <a:solidFill>
            <a:srgbClr val="D13212"/>
          </a:solidFill>
          <a:ln w="12700">
            <a:solidFill>
              <a:srgbClr val="D132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191549" y="3191256"/>
            <a:ext cx="1705356" cy="286207"/>
          </a:xfrm>
          <a:prstGeom prst="roundRect">
            <a:avLst>
              <a:gd name="adj" fmla="val 42599"/>
            </a:avLst>
          </a:prstGeom>
          <a:solidFill>
            <a:srgbClr val="FF99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9191549" y="3191256"/>
            <a:ext cx="38405" cy="286207"/>
          </a:xfrm>
          <a:prstGeom prst="roundRect">
            <a:avLst>
              <a:gd name="adj" fmla="val 317459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9191549" y="3524098"/>
            <a:ext cx="1705356" cy="286207"/>
          </a:xfrm>
          <a:prstGeom prst="roundRect">
            <a:avLst>
              <a:gd name="adj" fmla="val 42599"/>
            </a:avLst>
          </a:prstGeom>
          <a:solidFill>
            <a:srgbClr val="232F3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9191549" y="3524098"/>
            <a:ext cx="38405" cy="286207"/>
          </a:xfrm>
          <a:prstGeom prst="roundRect">
            <a:avLst>
              <a:gd name="adj" fmla="val 317459"/>
            </a:avLst>
          </a:prstGeom>
          <a:solidFill>
            <a:srgbClr val="232F3E"/>
          </a:solidFill>
          <a:ln w="12700">
            <a:solidFill>
              <a:srgbClr val="232F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761695" y="286207"/>
            <a:ext cx="9525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Design: Event-to-Alert Flow</a:t>
            </a:r>
            <a:endParaRPr lang="en-US" sz="31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t="-30861" b="-30861"/>
          <a:stretch/>
        </p:blipFill>
        <p:spPr>
          <a:xfrm>
            <a:off x="10981944" y="362102"/>
            <a:ext cx="323698" cy="418795"/>
          </a:xfrm>
          <a:prstGeom prst="rect">
            <a:avLst/>
          </a:prstGeom>
        </p:spPr>
      </p:pic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t="-14038" b="-14038"/>
          <a:stretch/>
        </p:blipFill>
        <p:spPr>
          <a:xfrm>
            <a:off x="1857146" y="2286000"/>
            <a:ext cx="237744" cy="30449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95451" y="2762402"/>
            <a:ext cx="1905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Collection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1095451" y="2980944"/>
            <a:ext cx="1905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CloudTrail mgmt + S3 data events routed to CloudWatch Logs</a:t>
            </a:r>
            <a:endParaRPr lang="en-US" sz="9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t="-5240" b="-5240"/>
          <a:stretch/>
        </p:blipFill>
        <p:spPr>
          <a:xfrm>
            <a:off x="3191256" y="2667305"/>
            <a:ext cx="181051" cy="228600"/>
          </a:xfrm>
          <a:prstGeom prst="rect">
            <a:avLst/>
          </a:prstGeom>
        </p:spPr>
      </p:pic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 t="-14212" b="-14212"/>
          <a:stretch/>
        </p:blipFill>
        <p:spPr>
          <a:xfrm>
            <a:off x="4524451" y="2000707"/>
            <a:ext cx="267005" cy="3429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3762756" y="2476195"/>
            <a:ext cx="1905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Risk Engine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3762756" y="2762402"/>
            <a:ext cx="19056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4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Lambda normalizes events, applies scoring weights, and queries user baseline history</a:t>
            </a:r>
            <a:endParaRPr lang="en-US" sz="10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 l="-2800" r="-2800"/>
          <a:stretch/>
        </p:blipFill>
        <p:spPr>
          <a:xfrm>
            <a:off x="4572000" y="1495045"/>
            <a:ext cx="181051" cy="228600"/>
          </a:xfrm>
          <a:prstGeom prst="rect">
            <a:avLst/>
          </a:prstGeom>
        </p:spPr>
      </p:pic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rcRect t="-5240" b="-5240"/>
          <a:stretch/>
        </p:blipFill>
        <p:spPr>
          <a:xfrm>
            <a:off x="3952951" y="4381805"/>
            <a:ext cx="181051" cy="22860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4334256" y="4334256"/>
            <a:ext cx="1143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DynamoDB</a:t>
            </a:r>
            <a:endParaRPr lang="en-US" sz="900" dirty="0"/>
          </a:p>
        </p:txBody>
      </p:sp>
      <p:sp>
        <p:nvSpPr>
          <p:cNvPr id="34" name="Text 24"/>
          <p:cNvSpPr txBox="1"/>
          <p:nvPr/>
        </p:nvSpPr>
        <p:spPr>
          <a:xfrm>
            <a:off x="4334256" y="4470502"/>
            <a:ext cx="1143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Profiles &amp; Scores</a:t>
            </a:r>
            <a:endParaRPr lang="en-US" sz="8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rcRect l="-13360" r="-13360"/>
          <a:stretch/>
        </p:blipFill>
        <p:spPr>
          <a:xfrm>
            <a:off x="4572000" y="3905402"/>
            <a:ext cx="181051" cy="228600"/>
          </a:xfrm>
          <a:prstGeom prst="rect">
            <a:avLst/>
          </a:prstGeom>
        </p:spPr>
      </p:pic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7"/>
          <a:srcRect t="-5240" b="-5240"/>
          <a:stretch/>
        </p:blipFill>
        <p:spPr>
          <a:xfrm>
            <a:off x="5857646" y="2667305"/>
            <a:ext cx="181051" cy="228600"/>
          </a:xfrm>
          <a:prstGeom prst="rect">
            <a:avLst/>
          </a:prstGeom>
        </p:spPr>
      </p:pic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2"/>
          <a:srcRect t="-14038" b="-14038"/>
          <a:stretch/>
        </p:blipFill>
        <p:spPr>
          <a:xfrm>
            <a:off x="7191756" y="2286000"/>
            <a:ext cx="237744" cy="304495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429146" y="2762402"/>
            <a:ext cx="1905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Alert Logic</a:t>
            </a:r>
            <a:endParaRPr lang="en-US" sz="1200" dirty="0"/>
          </a:p>
        </p:txBody>
      </p:sp>
      <p:sp>
        <p:nvSpPr>
          <p:cNvPr id="39" name="Text 26"/>
          <p:cNvSpPr txBox="1"/>
          <p:nvPr/>
        </p:nvSpPr>
        <p:spPr>
          <a:xfrm>
            <a:off x="6429146" y="2980944"/>
            <a:ext cx="1905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Tier evaluation, suppression filters, and cooldown enforcement</a:t>
            </a:r>
            <a:endParaRPr lang="en-US" sz="90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7"/>
          <a:srcRect t="-5240" b="-5240"/>
          <a:stretch/>
        </p:blipFill>
        <p:spPr>
          <a:xfrm>
            <a:off x="8524951" y="2667305"/>
            <a:ext cx="181051" cy="228600"/>
          </a:xfrm>
          <a:prstGeom prst="rect">
            <a:avLst/>
          </a:prstGeom>
        </p:spPr>
      </p:pic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13"/>
          <a:srcRect t="-14212" b="-14212"/>
          <a:stretch/>
        </p:blipFill>
        <p:spPr>
          <a:xfrm>
            <a:off x="9829800" y="2000707"/>
            <a:ext cx="267005" cy="342900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9096451" y="2476195"/>
            <a:ext cx="18580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SNS Output</a:t>
            </a:r>
            <a:endParaRPr lang="en-US" sz="1200" dirty="0"/>
          </a:p>
        </p:txBody>
      </p:sp>
      <p:sp>
        <p:nvSpPr>
          <p:cNvPr id="43" name="Text 28"/>
          <p:cNvSpPr txBox="1"/>
          <p:nvPr/>
        </p:nvSpPr>
        <p:spPr>
          <a:xfrm>
            <a:off x="9286646" y="2905049"/>
            <a:ext cx="14767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132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CRITICAL Alert</a:t>
            </a:r>
            <a:endParaRPr lang="en-US" sz="900" dirty="0"/>
          </a:p>
        </p:txBody>
      </p:sp>
      <p:sp>
        <p:nvSpPr>
          <p:cNvPr id="44" name="Text 29"/>
          <p:cNvSpPr txBox="1"/>
          <p:nvPr/>
        </p:nvSpPr>
        <p:spPr>
          <a:xfrm>
            <a:off x="9286646" y="3238805"/>
            <a:ext cx="14767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7A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Alert</a:t>
            </a:r>
            <a:endParaRPr lang="en-US" sz="900" dirty="0"/>
          </a:p>
        </p:txBody>
      </p:sp>
      <p:sp>
        <p:nvSpPr>
          <p:cNvPr id="45" name="Text 30"/>
          <p:cNvSpPr txBox="1"/>
          <p:nvPr/>
        </p:nvSpPr>
        <p:spPr>
          <a:xfrm>
            <a:off x="9286646" y="3571646"/>
            <a:ext cx="14767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MEDIUM Alert</a:t>
            </a:r>
            <a:endParaRPr lang="en-US" sz="900" dirty="0"/>
          </a:p>
        </p:txBody>
      </p:sp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4"/>
          <a:srcRect l="-2052" r="-2052"/>
          <a:stretch/>
        </p:blipFill>
        <p:spPr>
          <a:xfrm>
            <a:off x="1047902" y="5810098"/>
            <a:ext cx="237744" cy="304495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1619402" y="5667451"/>
            <a:ext cx="9525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Rationale: Explainability Over Opacity</a:t>
            </a:r>
            <a:endParaRPr lang="en-US" sz="1300" dirty="0"/>
          </a:p>
        </p:txBody>
      </p:sp>
      <p:sp>
        <p:nvSpPr>
          <p:cNvPr id="48" name="Text 32"/>
          <p:cNvSpPr txBox="1"/>
          <p:nvPr/>
        </p:nvSpPr>
        <p:spPr>
          <a:xfrm>
            <a:off x="1619402" y="5915254"/>
            <a:ext cx="9525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Separating action collection (CloudTrail/GuardDuty) from interpretation (Lambda) allows the program to evolve over time while maintaining transparent, explicit scoring rules for security analysts.</a:t>
            </a:r>
            <a:endParaRPr lang="en-US" sz="1100" dirty="0"/>
          </a:p>
        </p:txBody>
      </p:sp>
      <p:sp>
        <p:nvSpPr>
          <p:cNvPr id="49" name="Shape 33"/>
          <p:cNvSpPr/>
          <p:nvPr/>
        </p:nvSpPr>
        <p:spPr>
          <a:xfrm>
            <a:off x="3812048" y="961491"/>
            <a:ext cx="1752905" cy="495606"/>
          </a:xfrm>
          <a:prstGeom prst="roundRect">
            <a:avLst>
              <a:gd name="adj" fmla="val 18741"/>
            </a:avLst>
          </a:prstGeom>
          <a:solidFill>
            <a:srgbClr val="FFFFFF"/>
          </a:solidFill>
          <a:ln w="2540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5"/>
          <a:srcRect t="-13131" b="-13131"/>
          <a:stretch/>
        </p:blipFill>
        <p:spPr>
          <a:xfrm>
            <a:off x="3981755" y="1038301"/>
            <a:ext cx="181051" cy="228600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4162806" y="1074083"/>
            <a:ext cx="1143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EventBridge</a:t>
            </a:r>
            <a:endParaRPr lang="en-US" sz="900" dirty="0"/>
          </a:p>
        </p:txBody>
      </p:sp>
      <p:sp>
        <p:nvSpPr>
          <p:cNvPr id="52" name="Text 35"/>
          <p:cNvSpPr txBox="1"/>
          <p:nvPr/>
        </p:nvSpPr>
        <p:spPr>
          <a:xfrm>
            <a:off x="4162806" y="1265989"/>
            <a:ext cx="1143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GuardDuty ingest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5895"/>
            <a:ext cx="12191695" cy="952805"/>
          </a:xfrm>
          <a:prstGeom prst="rect">
            <a:avLst/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761695" y="2095805"/>
            <a:ext cx="2381098" cy="42483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476756" y="2476195"/>
            <a:ext cx="952805" cy="952805"/>
          </a:xfrm>
          <a:prstGeom prst="ellipse">
            <a:avLst/>
          </a:prstGeom>
          <a:solidFill>
            <a:srgbClr val="F2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-5" b="-5"/>
          <a:stretch/>
        </p:blipFill>
        <p:spPr>
          <a:xfrm>
            <a:off x="3524098" y="2095805"/>
            <a:ext cx="2381098" cy="424830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238244" y="2476195"/>
            <a:ext cx="952805" cy="952805"/>
          </a:xfrm>
          <a:prstGeom prst="ellipse">
            <a:avLst/>
          </a:prstGeom>
          <a:solidFill>
            <a:srgbClr val="F2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6286500" y="2095805"/>
            <a:ext cx="2381098" cy="4248302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000646" y="2476195"/>
            <a:ext cx="952805" cy="952805"/>
          </a:xfrm>
          <a:prstGeom prst="ellipse">
            <a:avLst/>
          </a:prstGeom>
          <a:solidFill>
            <a:srgbClr val="F2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rcRect t="-5" b="-5"/>
          <a:stretch/>
        </p:blipFill>
        <p:spPr>
          <a:xfrm>
            <a:off x="9048902" y="2095805"/>
            <a:ext cx="2381098" cy="4248302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9763049" y="2476195"/>
            <a:ext cx="952805" cy="952805"/>
          </a:xfrm>
          <a:prstGeom prst="ellipse">
            <a:avLst/>
          </a:prstGeom>
          <a:solidFill>
            <a:srgbClr val="F2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7"/>
          <p:cNvSpPr txBox="1"/>
          <p:nvPr/>
        </p:nvSpPr>
        <p:spPr>
          <a:xfrm>
            <a:off x="761695" y="286207"/>
            <a:ext cx="8572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Results: Test Methodology</a:t>
            </a:r>
            <a:endParaRPr lang="en-US" sz="31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rcRect t="-30861" b="-30861"/>
          <a:stretch/>
        </p:blipFill>
        <p:spPr>
          <a:xfrm>
            <a:off x="10981944" y="362102"/>
            <a:ext cx="323698" cy="4187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761695" y="1333195"/>
            <a:ext cx="106683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Validating the action-centric threat detection model through controlled simulations and cumulative scoring logic.</a:t>
            </a:r>
            <a:endParaRPr lang="en-US" sz="16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rcRect t="-30689" b="-30689"/>
          <a:stretch/>
        </p:blipFill>
        <p:spPr>
          <a:xfrm>
            <a:off x="1805026" y="2762402"/>
            <a:ext cx="295351" cy="381305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952805" y="3619195"/>
            <a:ext cx="20007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Simulated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Personas</a:t>
            </a:r>
            <a:endParaRPr lang="en-US" sz="1500" dirty="0"/>
          </a:p>
        </p:txBody>
      </p:sp>
      <p:sp>
        <p:nvSpPr>
          <p:cNvPr id="19" name="Text 10"/>
          <p:cNvSpPr txBox="1"/>
          <p:nvPr/>
        </p:nvSpPr>
        <p:spPr>
          <a:xfrm>
            <a:off x="952805" y="4286707"/>
            <a:ext cx="2000707" cy="107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Implemented Developer, Negligent-User, MaliciousInsider, and Compromised-User with least-privilege boundaries.</a:t>
            </a:r>
            <a:endParaRPr lang="en-US" sz="11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t="-22620" b="-22620"/>
          <a:stretch/>
        </p:blipFill>
        <p:spPr>
          <a:xfrm>
            <a:off x="4567428" y="2762402"/>
            <a:ext cx="295351" cy="38130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3715207" y="3619195"/>
            <a:ext cx="20007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Cross-Plane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Monitoring</a:t>
            </a:r>
            <a:endParaRPr lang="en-US" sz="1500" dirty="0"/>
          </a:p>
        </p:txBody>
      </p:sp>
      <p:sp>
        <p:nvSpPr>
          <p:cNvPr id="22" name="Text 12"/>
          <p:cNvSpPr txBox="1"/>
          <p:nvPr/>
        </p:nvSpPr>
        <p:spPr>
          <a:xfrm>
            <a:off x="3715207" y="4286707"/>
            <a:ext cx="2000707" cy="107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Monitored and scored observable actions natively across Amazon S3 (data), IAM (identity), and VPC (infrastructure).</a:t>
            </a:r>
            <a:endParaRPr lang="en-US" sz="11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l="-1639" r="-1639"/>
          <a:stretch/>
        </p:blipFill>
        <p:spPr>
          <a:xfrm>
            <a:off x="7329830" y="2762402"/>
            <a:ext cx="295351" cy="381305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6476695" y="3619195"/>
            <a:ext cx="20007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Conditional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Profiling</a:t>
            </a:r>
            <a:endParaRPr lang="en-US" sz="1500" dirty="0"/>
          </a:p>
        </p:txBody>
      </p:sp>
      <p:sp>
        <p:nvSpPr>
          <p:cNvPr id="25" name="Text 14"/>
          <p:cNvSpPr txBox="1"/>
          <p:nvPr/>
        </p:nvSpPr>
        <p:spPr>
          <a:xfrm>
            <a:off x="6476695" y="4286707"/>
            <a:ext cx="200070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Applied historical anomaly scoring strictly to suspicious base events to prevent noise from benign console activity.</a:t>
            </a:r>
            <a:endParaRPr lang="en-US" sz="11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t="-14551" b="-14551"/>
          <a:stretch/>
        </p:blipFill>
        <p:spPr>
          <a:xfrm>
            <a:off x="10091318" y="2762402"/>
            <a:ext cx="295351" cy="381305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9239098" y="3619195"/>
            <a:ext cx="20007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 &amp;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Tiers</a:t>
            </a:r>
            <a:endParaRPr lang="en-US" sz="1500" dirty="0"/>
          </a:p>
        </p:txBody>
      </p:sp>
      <p:sp>
        <p:nvSpPr>
          <p:cNvPr id="28" name="Text 16"/>
          <p:cNvSpPr txBox="1"/>
          <p:nvPr/>
        </p:nvSpPr>
        <p:spPr>
          <a:xfrm>
            <a:off x="9239098" y="4286707"/>
            <a:ext cx="2000707" cy="107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Validated alert escalation (Low, Med, High, Crit), noise suppression cooldowns, risk decay, and GuardDuty ingestion.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5895"/>
            <a:ext cx="12191695" cy="952805"/>
          </a:xfrm>
          <a:prstGeom prst="rect">
            <a:avLst/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61695" y="1809598"/>
            <a:ext cx="7258507" cy="4572000"/>
          </a:xfrm>
          <a:prstGeom prst="roundRect">
            <a:avLst>
              <a:gd name="adj" fmla="val 667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61695" y="1809598"/>
            <a:ext cx="57607" cy="4572000"/>
          </a:xfrm>
          <a:prstGeom prst="roundRect">
            <a:avLst>
              <a:gd name="adj" fmla="val 52910"/>
            </a:avLst>
          </a:prstGeom>
          <a:solidFill>
            <a:srgbClr val="232F3E"/>
          </a:solidFill>
          <a:ln w="12700">
            <a:solidFill>
              <a:srgbClr val="232F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191195" y="1809598"/>
            <a:ext cx="3238805" cy="4572000"/>
          </a:xfrm>
          <a:prstGeom prst="roundRect">
            <a:avLst>
              <a:gd name="adj" fmla="val 1329"/>
            </a:avLst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61695" y="286207"/>
            <a:ext cx="9525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Results: Risk Score Comparison</a:t>
            </a:r>
            <a:endParaRPr lang="en-US" sz="3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30861" b="-30861"/>
          <a:stretch/>
        </p:blipFill>
        <p:spPr>
          <a:xfrm>
            <a:off x="10916107" y="362102"/>
            <a:ext cx="323698" cy="41879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1695" y="1238098"/>
            <a:ext cx="113541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Cumulative scoring successfully differentiates baseline activities from suspicious, high-risk behaviors.</a:t>
            </a:r>
            <a:endParaRPr lang="en-US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52805" y="2048256"/>
            <a:ext cx="6819595" cy="409559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477402" y="2048256"/>
            <a:ext cx="287121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Escalation Drivers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8686800" y="2495398"/>
            <a:ext cx="24579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Privilege Escalation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8477402" y="2781605"/>
            <a:ext cx="2667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5DB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</a:t>
            </a:r>
            <a:r>
              <a:rPr lang="en-US" sz="1000" b="1" dirty="0">
                <a:solidFill>
                  <a:srgbClr val="D5DB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MaliciousInsider:</a:t>
            </a:r>
            <a:r>
              <a:rPr lang="en-US" sz="1000" dirty="0">
                <a:solidFill>
                  <a:srgbClr val="D5DB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3 attempts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8477402" y="3000146"/>
            <a:ext cx="2667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5DB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</a:t>
            </a:r>
            <a:r>
              <a:rPr lang="en-US" sz="1000" b="1" dirty="0">
                <a:solidFill>
                  <a:srgbClr val="D5DB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Compromised-User:</a:t>
            </a:r>
            <a:r>
              <a:rPr lang="en-US" sz="1000" dirty="0">
                <a:solidFill>
                  <a:srgbClr val="D5DB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 attempts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8686800" y="3353105"/>
            <a:ext cx="24579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 Denied Counts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8477402" y="3638398"/>
            <a:ext cx="26673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5DB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session denied counts highlight clear boundary-crossing probes during the compromised credential sequence.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8686800" y="4369918"/>
            <a:ext cx="24579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Tier Mapping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477402" y="4655210"/>
            <a:ext cx="2667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32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CRITICAL: Score &gt; 20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8477402" y="4874666"/>
            <a:ext cx="2667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HIGH: Score 11-20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8477402" y="5094122"/>
            <a:ext cx="2667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99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MEDIUM: Score 5-10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8477402" y="5312664"/>
            <a:ext cx="2667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LOW: Score &lt; 5</a:t>
            </a:r>
            <a:endParaRPr lang="en-US" sz="10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t="-16800" b="-16800"/>
          <a:stretch/>
        </p:blipFill>
        <p:spPr>
          <a:xfrm>
            <a:off x="8477402" y="2523744"/>
            <a:ext cx="114300" cy="152705"/>
          </a:xfrm>
          <a:prstGeom prst="rect">
            <a:avLst/>
          </a:prstGeom>
        </p:spPr>
      </p:pic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 t="-16800" b="-16800"/>
          <a:stretch/>
        </p:blipFill>
        <p:spPr>
          <a:xfrm>
            <a:off x="8477402" y="3381451"/>
            <a:ext cx="114300" cy="152705"/>
          </a:xfrm>
          <a:prstGeom prst="rect">
            <a:avLst/>
          </a:prstGeom>
        </p:spPr>
      </p:pic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rcRect t="-25150" b="-25150"/>
          <a:stretch/>
        </p:blipFill>
        <p:spPr>
          <a:xfrm>
            <a:off x="8477402" y="4398264"/>
            <a:ext cx="114300" cy="15270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61695" y="6524244"/>
            <a:ext cx="10668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899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Risk tier mapping based on Common Vulnerability Scoring System (CVSS) severity levels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5895"/>
            <a:ext cx="12191695" cy="952805"/>
          </a:xfrm>
          <a:prstGeom prst="rect">
            <a:avLst/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61695" y="1809598"/>
            <a:ext cx="7677302" cy="4762195"/>
          </a:xfrm>
          <a:prstGeom prst="roundRect">
            <a:avLst>
              <a:gd name="adj" fmla="val 614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61695" y="1809598"/>
            <a:ext cx="57607" cy="4762195"/>
          </a:xfrm>
          <a:prstGeom prst="roundRect">
            <a:avLst>
              <a:gd name="adj" fmla="val 50794"/>
            </a:avLst>
          </a:prstGeom>
          <a:solidFill>
            <a:srgbClr val="232F3E"/>
          </a:solidFill>
          <a:ln w="12700">
            <a:solidFill>
              <a:srgbClr val="232F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667598" y="1809598"/>
            <a:ext cx="2762402" cy="4762195"/>
          </a:xfrm>
          <a:prstGeom prst="roundRect">
            <a:avLst>
              <a:gd name="adj" fmla="val 1826"/>
            </a:avLst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61695" y="286207"/>
            <a:ext cx="9525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Suspicious Activity Trends Over Time</a:t>
            </a:r>
            <a:endParaRPr lang="en-US" sz="3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44" r="-44"/>
          <a:stretch/>
        </p:blipFill>
        <p:spPr>
          <a:xfrm>
            <a:off x="10882274" y="362102"/>
            <a:ext cx="523951" cy="41879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1695" y="1238098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Tracking rolling event volume highlights structural differences between baseline operations and rapid escalation sequences.</a:t>
            </a:r>
            <a:endParaRPr lang="en-US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952805" y="2000707"/>
            <a:ext cx="7239305" cy="43818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906256" y="2000707"/>
            <a:ext cx="22860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Analysis &amp; Escalation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9106510" y="2604211"/>
            <a:ext cx="20857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3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Compromised User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8906256" y="2822753"/>
            <a:ext cx="2286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5DB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Sustained elevated volume resulting in </a:t>
            </a: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AttachUserPolicy</a:t>
            </a:r>
            <a:r>
              <a:rPr lang="en-US" sz="900" dirty="0">
                <a:solidFill>
                  <a:srgbClr val="D5DB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Shows highest after-hours cross-department probes.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9087307" y="3476549"/>
            <a:ext cx="210494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Malicious Insider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8906256" y="3696005"/>
            <a:ext cx="2286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5DB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Mid-week spike aligns with infrastructure probing, culminating in </a:t>
            </a: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CreateAccessKey</a:t>
            </a:r>
            <a:r>
              <a:rPr lang="en-US" sz="900" dirty="0">
                <a:solidFill>
                  <a:srgbClr val="D5DB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persistence attempt.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9144000" y="4349801"/>
            <a:ext cx="20482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810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 &amp; Negligent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8906256" y="4568342"/>
            <a:ext cx="2286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5DB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Relatively flat trajectory. Despite isolated mistakes by the negligent user, structural event velocity remains stable.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8906256" y="5241341"/>
            <a:ext cx="22860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8906256" y="5345582"/>
            <a:ext cx="2286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F9D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*Markers indicate primary alert escalation thresholds where tier transitioned to HIGH/CRITICAL.</a:t>
            </a:r>
            <a:endParaRPr lang="en-US" sz="8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06256" y="2621585"/>
            <a:ext cx="142646" cy="142646"/>
          </a:xfrm>
          <a:prstGeom prst="rect">
            <a:avLst/>
          </a:prstGeom>
        </p:spPr>
      </p:pic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t="-556" b="-556"/>
          <a:stretch/>
        </p:blipFill>
        <p:spPr>
          <a:xfrm>
            <a:off x="8906256" y="3494837"/>
            <a:ext cx="123444" cy="142646"/>
          </a:xfrm>
          <a:prstGeom prst="rect">
            <a:avLst/>
          </a:prstGeom>
        </p:spPr>
      </p:pic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 l="-769" r="-769"/>
          <a:stretch/>
        </p:blipFill>
        <p:spPr>
          <a:xfrm>
            <a:off x="8906256" y="4367174"/>
            <a:ext cx="181051" cy="1426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5895"/>
            <a:ext cx="12191695" cy="952805"/>
          </a:xfrm>
          <a:prstGeom prst="rect">
            <a:avLst/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61695" y="1238098"/>
            <a:ext cx="3429000" cy="1086307"/>
          </a:xfrm>
          <a:prstGeom prst="roundRect">
            <a:avLst>
              <a:gd name="adj" fmla="val 11814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61695" y="1238098"/>
            <a:ext cx="3429000" cy="38405"/>
          </a:xfrm>
          <a:prstGeom prst="roundRect">
            <a:avLst>
              <a:gd name="adj" fmla="val 334167"/>
            </a:avLst>
          </a:prstGeom>
          <a:solidFill>
            <a:srgbClr val="546B82"/>
          </a:solidFill>
          <a:ln w="12700">
            <a:solidFill>
              <a:srgbClr val="546B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381805" y="1238098"/>
            <a:ext cx="3429000" cy="1086307"/>
          </a:xfrm>
          <a:prstGeom prst="roundRect">
            <a:avLst>
              <a:gd name="adj" fmla="val 11814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381805" y="1238098"/>
            <a:ext cx="3429000" cy="38405"/>
          </a:xfrm>
          <a:prstGeom prst="roundRect">
            <a:avLst>
              <a:gd name="adj" fmla="val 334167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001000" y="1238098"/>
            <a:ext cx="3429000" cy="1086307"/>
          </a:xfrm>
          <a:prstGeom prst="roundRect">
            <a:avLst>
              <a:gd name="adj" fmla="val 11814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001000" y="1238098"/>
            <a:ext cx="3429000" cy="38405"/>
          </a:xfrm>
          <a:prstGeom prst="roundRect">
            <a:avLst>
              <a:gd name="adj" fmla="val 334167"/>
            </a:avLst>
          </a:prstGeom>
          <a:solidFill>
            <a:srgbClr val="D13212"/>
          </a:solidFill>
          <a:ln w="12700">
            <a:solidFill>
              <a:srgbClr val="D132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61695" y="2476195"/>
            <a:ext cx="5238598" cy="2857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191402" y="2476195"/>
            <a:ext cx="5238598" cy="2857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61695" y="5524805"/>
            <a:ext cx="10724998" cy="1190549"/>
          </a:xfrm>
          <a:prstGeom prst="roundRect">
            <a:avLst>
              <a:gd name="adj" fmla="val 9831"/>
            </a:avLst>
          </a:prstGeom>
          <a:solidFill>
            <a:srgbClr val="232F3E"/>
          </a:solidFill>
          <a:ln/>
          <a:effectLst>
            <a:outerShdw blurRad="1397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61695" y="5524805"/>
            <a:ext cx="57607" cy="1190549"/>
          </a:xfrm>
          <a:prstGeom prst="roundRect">
            <a:avLst>
              <a:gd name="adj" fmla="val 203175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61695" y="286207"/>
            <a:ext cx="9525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Results: Executive Dashboard</a:t>
            </a:r>
            <a:endParaRPr lang="en-US" sz="31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l="-44" r="-44"/>
          <a:stretch/>
        </p:blipFill>
        <p:spPr>
          <a:xfrm>
            <a:off x="10882274" y="362102"/>
            <a:ext cx="523951" cy="418795"/>
          </a:xfrm>
          <a:prstGeom prst="rect">
            <a:avLst/>
          </a:prstGeom>
        </p:spPr>
      </p:pic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09498" y="1628546"/>
            <a:ext cx="267005" cy="2670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76756" y="1380744"/>
            <a:ext cx="25722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Avg Events/Day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476756" y="1638605"/>
            <a:ext cx="10863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Developer: </a:t>
            </a:r>
            <a:r>
              <a:rPr lang="en-US" sz="9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3220517" y="1638605"/>
            <a:ext cx="99486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Negligent: </a:t>
            </a:r>
            <a:r>
              <a:rPr lang="en-US" sz="9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476756" y="1848002"/>
            <a:ext cx="107899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Malicious: </a:t>
            </a:r>
            <a:r>
              <a:rPr lang="en-US" sz="9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2951683" y="1848002"/>
            <a:ext cx="118506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Compromised: </a:t>
            </a:r>
            <a:r>
              <a:rPr lang="en-US" sz="9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9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29607" y="1628546"/>
            <a:ext cx="267005" cy="2670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095951" y="1380744"/>
            <a:ext cx="25722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Denied Actions/Day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095951" y="1638605"/>
            <a:ext cx="10021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Developer: </a:t>
            </a:r>
            <a:r>
              <a:rPr lang="en-US" sz="9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6839712" y="1638605"/>
            <a:ext cx="99486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Negligent: </a:t>
            </a:r>
            <a:r>
              <a:rPr lang="en-US" sz="9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5095951" y="1848002"/>
            <a:ext cx="99486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Malicious: </a:t>
            </a:r>
            <a:r>
              <a:rPr lang="en-US" sz="900" b="1" dirty="0">
                <a:solidFill>
                  <a:srgbClr val="FF99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6570878" y="1848002"/>
            <a:ext cx="118506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Compromised: </a:t>
            </a:r>
            <a:r>
              <a:rPr lang="en-US" sz="900" b="1" dirty="0">
                <a:solidFill>
                  <a:srgbClr val="D132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248802" y="1628546"/>
            <a:ext cx="267005" cy="26700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715146" y="1380744"/>
            <a:ext cx="28437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Privilege Escalation Attempts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8715146" y="1638605"/>
            <a:ext cx="10021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Developer: </a:t>
            </a:r>
            <a:r>
              <a:rPr lang="en-US" sz="9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10458907" y="1638605"/>
            <a:ext cx="99486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Negligent: </a:t>
            </a:r>
            <a:r>
              <a:rPr lang="en-US" sz="9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8715146" y="1848002"/>
            <a:ext cx="99486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Malicious: </a:t>
            </a:r>
            <a:r>
              <a:rPr lang="en-US" sz="900" b="1" dirty="0">
                <a:solidFill>
                  <a:srgbClr val="D132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10190074" y="1848002"/>
            <a:ext cx="118506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Compromised: </a:t>
            </a:r>
            <a:r>
              <a:rPr lang="en-US" sz="900" b="1" dirty="0">
                <a:solidFill>
                  <a:srgbClr val="D132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952805" y="2667305"/>
            <a:ext cx="4858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Overall Behavior Classification</a:t>
            </a:r>
            <a:endParaRPr lang="en-US" sz="13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rcRect t="-3" b="-3"/>
          <a:stretch/>
        </p:blipFill>
        <p:spPr>
          <a:xfrm>
            <a:off x="952805" y="3047695"/>
            <a:ext cx="4858207" cy="2095805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6381598" y="2667305"/>
            <a:ext cx="4858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After-Hours Activity Breakdown</a:t>
            </a:r>
            <a:endParaRPr lang="en-US" sz="13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rcRect t="-3" b="-3"/>
          <a:stretch/>
        </p:blipFill>
        <p:spPr>
          <a:xfrm>
            <a:off x="6381598" y="3047695"/>
            <a:ext cx="4858207" cy="2095805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38428" y="5982005"/>
            <a:ext cx="200254" cy="267005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524305" y="5639105"/>
            <a:ext cx="9715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 &amp; System Effectiveness</a:t>
            </a:r>
            <a:endParaRPr lang="en-US" sz="1200" dirty="0"/>
          </a:p>
        </p:txBody>
      </p:sp>
      <p:sp>
        <p:nvSpPr>
          <p:cNvPr id="42" name="Text 32"/>
          <p:cNvSpPr txBox="1"/>
          <p:nvPr/>
        </p:nvSpPr>
        <p:spPr>
          <a:xfrm>
            <a:off x="1714500" y="5876849"/>
            <a:ext cx="10211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 Separation:</a:t>
            </a: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Compromised persona shows the highest after-hours and cross-dept behaviors; Malicious shows distinct honey-resource targeting.</a:t>
            </a:r>
            <a:endParaRPr lang="en-US" sz="1000" dirty="0"/>
          </a:p>
        </p:txBody>
      </p:sp>
      <p:sp>
        <p:nvSpPr>
          <p:cNvPr id="43" name="Text 33"/>
          <p:cNvSpPr txBox="1"/>
          <p:nvPr/>
        </p:nvSpPr>
        <p:spPr>
          <a:xfrm>
            <a:off x="1714500" y="6076188"/>
            <a:ext cx="10211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 Baseline Noise:</a:t>
            </a: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Authorized users (Developer, Negligent) remain quiet across suspicious metrics, validating extremely low false-positive rates.</a:t>
            </a:r>
            <a:endParaRPr lang="en-US" sz="1000" dirty="0"/>
          </a:p>
        </p:txBody>
      </p:sp>
      <p:sp>
        <p:nvSpPr>
          <p:cNvPr id="44" name="Text 34"/>
          <p:cNvSpPr txBox="1"/>
          <p:nvPr/>
        </p:nvSpPr>
        <p:spPr>
          <a:xfrm>
            <a:off x="1714500" y="6275527"/>
            <a:ext cx="10211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Explainable Results:</a:t>
            </a: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Weighted scoring combined with suppression and decay produced predictable, tier-based escalations tied directly to business risk.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5895"/>
            <a:ext cx="12191695" cy="952805"/>
          </a:xfrm>
          <a:prstGeom prst="rect">
            <a:avLst/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61695" y="1429207"/>
            <a:ext cx="3619195" cy="5105095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61695" y="1429207"/>
            <a:ext cx="3619195" cy="57607"/>
          </a:xfrm>
          <a:prstGeom prst="roundRect">
            <a:avLst>
              <a:gd name="adj" fmla="val 66834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667098" y="1429207"/>
            <a:ext cx="6762902" cy="5048402"/>
          </a:xfrm>
          <a:prstGeom prst="roundRect">
            <a:avLst>
              <a:gd name="adj" fmla="val 54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47902" y="3952951"/>
            <a:ext cx="3124505" cy="2238451"/>
          </a:xfrm>
          <a:prstGeom prst="roundRect">
            <a:avLst>
              <a:gd name="adj" fmla="val 139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47902" y="3952951"/>
            <a:ext cx="38405" cy="2238451"/>
          </a:xfrm>
          <a:prstGeom prst="roundRect">
            <a:avLst>
              <a:gd name="adj" fmla="val 81053"/>
            </a:avLst>
          </a:prstGeom>
          <a:solidFill>
            <a:srgbClr val="D13212"/>
          </a:solidFill>
          <a:ln w="12700">
            <a:solidFill>
              <a:srgbClr val="D132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61695" y="286207"/>
            <a:ext cx="9525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Results: Behavior Radar</a:t>
            </a:r>
            <a:endParaRPr lang="en-US" sz="3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30861" b="-30861"/>
          <a:stretch/>
        </p:blipFill>
        <p:spPr>
          <a:xfrm>
            <a:off x="10981944" y="362102"/>
            <a:ext cx="323698" cy="4187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47902" y="1714500"/>
            <a:ext cx="3048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Behavioral Profiles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047902" y="2190902"/>
            <a:ext cx="3048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Measured Dimensions: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218895" y="2476195"/>
            <a:ext cx="32781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After-Hours Events:</a:t>
            </a:r>
            <a:r>
              <a:rPr lang="en-US" sz="1000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Time-of-day anomalies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218895" y="2669134"/>
            <a:ext cx="34225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Honey Touches:</a:t>
            </a:r>
            <a:r>
              <a:rPr lang="en-US" sz="1000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Targeting sensitive/decoy data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218895" y="2862072"/>
            <a:ext cx="28767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Cross-Dept:</a:t>
            </a:r>
            <a:r>
              <a:rPr lang="en-US" sz="1000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Lateral boundary probing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218895" y="3055010"/>
            <a:ext cx="34225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Privilege Escalation:</a:t>
            </a:r>
            <a:r>
              <a:rPr lang="en-US" sz="1000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IAM role/policy abuse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218895" y="3247949"/>
            <a:ext cx="34225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Session Denied:</a:t>
            </a:r>
            <a:r>
              <a:rPr lang="en-US" sz="1000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Burst of AccessDenied errors</a:t>
            </a:r>
            <a:endParaRPr lang="en-US" sz="10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t="-12275" b="-12275"/>
          <a:stretch/>
        </p:blipFill>
        <p:spPr>
          <a:xfrm>
            <a:off x="1190549" y="4095598"/>
            <a:ext cx="152705" cy="19019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571854" y="4095598"/>
            <a:ext cx="23820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3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571854" y="4352544"/>
            <a:ext cx="2382012" cy="155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</a:t>
            </a:r>
            <a:r>
              <a:rPr lang="en-US" sz="10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Compromised</a:t>
            </a:r>
            <a:r>
              <a:rPr lang="en-US" sz="1000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persona exhibits a broader, spikier profile across multiple vectors due to automated recon and boundary probing. The </a:t>
            </a:r>
            <a:r>
              <a:rPr lang="en-US" sz="10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Malicious Insider</a:t>
            </a:r>
            <a:r>
              <a:rPr lang="en-US" sz="1000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shows deep, targeted spikes primarily around specific honeyfile and escalation attempts.</a:t>
            </a:r>
            <a:endParaRPr lang="en-US" sz="10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58207" y="1619402"/>
            <a:ext cx="6381598" cy="466709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5895"/>
            <a:ext cx="12191695" cy="952805"/>
          </a:xfrm>
          <a:prstGeom prst="rect">
            <a:avLst/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761695" y="3238805"/>
            <a:ext cx="2381098" cy="304769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3524098" y="3238805"/>
            <a:ext cx="2381098" cy="304769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 l="-2" r="-2"/>
          <a:stretch/>
        </p:blipFill>
        <p:spPr>
          <a:xfrm>
            <a:off x="6286500" y="3238805"/>
            <a:ext cx="2381098" cy="30476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 l="-2" r="-2"/>
          <a:stretch/>
        </p:blipFill>
        <p:spPr>
          <a:xfrm>
            <a:off x="9048902" y="3238805"/>
            <a:ext cx="2381098" cy="3047695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761695" y="286207"/>
            <a:ext cx="8572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Detection Effectiveness: KPIs</a:t>
            </a:r>
            <a:endParaRPr lang="en-US" sz="310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rcRect l="-44" r="-44"/>
          <a:stretch/>
        </p:blipFill>
        <p:spPr>
          <a:xfrm>
            <a:off x="10882274" y="362102"/>
            <a:ext cx="523951" cy="418795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990295" y="1285646"/>
            <a:ext cx="104397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Cumulative Escalation:</a:t>
            </a:r>
            <a:r>
              <a:rPr lang="en-US" sz="1500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Tiered alerts (Medium, High, Critical) triggered consistently as suspicious action sequences accumulated over time.</a:t>
            </a:r>
            <a:endParaRPr lang="en-US" sz="1500" dirty="0"/>
          </a:p>
        </p:txBody>
      </p:sp>
      <p:sp>
        <p:nvSpPr>
          <p:cNvPr id="13" name="Text 5"/>
          <p:cNvSpPr txBox="1"/>
          <p:nvPr/>
        </p:nvSpPr>
        <p:spPr>
          <a:xfrm>
            <a:off x="990295" y="1971446"/>
            <a:ext cx="111255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Noise Suppression:</a:t>
            </a:r>
            <a:r>
              <a:rPr lang="en-US" sz="1500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Alert storms were eliminated using cooldown logic and daily risk decay, reducing analyst fatigue.</a:t>
            </a:r>
            <a:endParaRPr lang="en-US" sz="1500" dirty="0"/>
          </a:p>
        </p:txBody>
      </p:sp>
      <p:sp>
        <p:nvSpPr>
          <p:cNvPr id="14" name="Text 6"/>
          <p:cNvSpPr txBox="1"/>
          <p:nvPr/>
        </p:nvSpPr>
        <p:spPr>
          <a:xfrm>
            <a:off x="990295" y="2371954"/>
            <a:ext cx="104397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 Explainability:</a:t>
            </a:r>
            <a:r>
              <a:rPr lang="en-US" sz="1500" dirty="0">
                <a:solidFill>
                  <a:srgbClr val="3A4B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Clear mapping of S3, IAM, and VPC actions provided immediate, readable context for every score change.</a:t>
            </a:r>
            <a:endParaRPr lang="en-US" sz="1500" dirty="0"/>
          </a:p>
        </p:txBody>
      </p:sp>
      <p:sp>
        <p:nvSpPr>
          <p:cNvPr id="15" name="Shape 7"/>
          <p:cNvSpPr/>
          <p:nvPr/>
        </p:nvSpPr>
        <p:spPr>
          <a:xfrm>
            <a:off x="1714500" y="3476549"/>
            <a:ext cx="476402" cy="476402"/>
          </a:xfrm>
          <a:prstGeom prst="ellipse">
            <a:avLst/>
          </a:prstGeom>
          <a:solidFill>
            <a:srgbClr val="1D8102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837944" y="3600907"/>
            <a:ext cx="228600" cy="22860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905256" y="4095598"/>
            <a:ext cx="20958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810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</a:t>
            </a:r>
            <a:endParaRPr lang="en-US" sz="2400" dirty="0"/>
          </a:p>
        </p:txBody>
      </p:sp>
      <p:sp>
        <p:nvSpPr>
          <p:cNvPr id="18" name="Text 9"/>
          <p:cNvSpPr txBox="1"/>
          <p:nvPr/>
        </p:nvSpPr>
        <p:spPr>
          <a:xfrm>
            <a:off x="905256" y="4543654"/>
            <a:ext cx="2095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Baseline Noise</a:t>
            </a:r>
            <a:endParaRPr lang="en-US" sz="1200" dirty="0"/>
          </a:p>
        </p:txBody>
      </p:sp>
      <p:sp>
        <p:nvSpPr>
          <p:cNvPr id="19" name="Text 10"/>
          <p:cNvSpPr txBox="1"/>
          <p:nvPr/>
        </p:nvSpPr>
        <p:spPr>
          <a:xfrm>
            <a:off x="905256" y="4905756"/>
            <a:ext cx="20958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Developer expected activity generated no risk points, preserving perfectly clean behavioral profiles.</a:t>
            </a:r>
            <a:endParaRPr lang="en-US" sz="1000" dirty="0"/>
          </a:p>
        </p:txBody>
      </p:sp>
      <p:sp>
        <p:nvSpPr>
          <p:cNvPr id="20" name="Shape 11"/>
          <p:cNvSpPr/>
          <p:nvPr/>
        </p:nvSpPr>
        <p:spPr>
          <a:xfrm>
            <a:off x="4476902" y="3476549"/>
            <a:ext cx="476402" cy="476402"/>
          </a:xfrm>
          <a:prstGeom prst="ellipse">
            <a:avLst/>
          </a:prstGeom>
          <a:solidFill>
            <a:srgbClr val="D13212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/>
          <a:srcRect t="-45" b="-45"/>
          <a:stretch/>
        </p:blipFill>
        <p:spPr>
          <a:xfrm>
            <a:off x="4586630" y="3600907"/>
            <a:ext cx="256946" cy="22860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3666744" y="4095598"/>
            <a:ext cx="20958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13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Tiered</a:t>
            </a:r>
            <a:endParaRPr lang="en-US" sz="2400" dirty="0"/>
          </a:p>
        </p:txBody>
      </p:sp>
      <p:sp>
        <p:nvSpPr>
          <p:cNvPr id="23" name="Text 13"/>
          <p:cNvSpPr txBox="1"/>
          <p:nvPr/>
        </p:nvSpPr>
        <p:spPr>
          <a:xfrm>
            <a:off x="3666744" y="4543654"/>
            <a:ext cx="2095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Escalation</a:t>
            </a:r>
            <a:endParaRPr lang="en-US" sz="1200" dirty="0"/>
          </a:p>
        </p:txBody>
      </p:sp>
      <p:sp>
        <p:nvSpPr>
          <p:cNvPr id="24" name="Text 14"/>
          <p:cNvSpPr txBox="1"/>
          <p:nvPr/>
        </p:nvSpPr>
        <p:spPr>
          <a:xfrm>
            <a:off x="3666744" y="4905756"/>
            <a:ext cx="20958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Alerts reliably escalated from Low to Critical threshold only as suspicious actions sequentially accumulated.</a:t>
            </a:r>
            <a:endParaRPr lang="en-US" sz="1000" dirty="0"/>
          </a:p>
        </p:txBody>
      </p:sp>
      <p:sp>
        <p:nvSpPr>
          <p:cNvPr id="25" name="Shape 15"/>
          <p:cNvSpPr/>
          <p:nvPr/>
        </p:nvSpPr>
        <p:spPr>
          <a:xfrm>
            <a:off x="7239305" y="3476549"/>
            <a:ext cx="476402" cy="476402"/>
          </a:xfrm>
          <a:prstGeom prst="ellipse">
            <a:avLst/>
          </a:prstGeom>
          <a:solidFill>
            <a:srgbClr val="FF99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/>
          <a:srcRect t="-45" b="-45"/>
          <a:stretch/>
        </p:blipFill>
        <p:spPr>
          <a:xfrm>
            <a:off x="7348118" y="3600907"/>
            <a:ext cx="256946" cy="228600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6429146" y="4095598"/>
            <a:ext cx="20958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</a:t>
            </a:r>
            <a:endParaRPr lang="en-US" sz="2400" dirty="0"/>
          </a:p>
        </p:txBody>
      </p:sp>
      <p:sp>
        <p:nvSpPr>
          <p:cNvPr id="28" name="Text 17"/>
          <p:cNvSpPr txBox="1"/>
          <p:nvPr/>
        </p:nvSpPr>
        <p:spPr>
          <a:xfrm>
            <a:off x="6429146" y="4543654"/>
            <a:ext cx="2095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Noise Reduction</a:t>
            </a:r>
            <a:endParaRPr lang="en-US" sz="1200" dirty="0"/>
          </a:p>
        </p:txBody>
      </p:sp>
      <p:sp>
        <p:nvSpPr>
          <p:cNvPr id="29" name="Text 18"/>
          <p:cNvSpPr txBox="1"/>
          <p:nvPr/>
        </p:nvSpPr>
        <p:spPr>
          <a:xfrm>
            <a:off x="6429146" y="4905756"/>
            <a:ext cx="20958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 suppression controls and risk-score decay algorithms successfully mitigated excessive notification volume.</a:t>
            </a:r>
            <a:endParaRPr lang="en-US" sz="1000" dirty="0"/>
          </a:p>
        </p:txBody>
      </p:sp>
      <p:sp>
        <p:nvSpPr>
          <p:cNvPr id="30" name="Shape 19"/>
          <p:cNvSpPr/>
          <p:nvPr/>
        </p:nvSpPr>
        <p:spPr>
          <a:xfrm>
            <a:off x="10001707" y="3476549"/>
            <a:ext cx="476402" cy="476402"/>
          </a:xfrm>
          <a:prstGeom prst="ellipse">
            <a:avLst/>
          </a:prstGeom>
          <a:solidFill>
            <a:srgbClr val="232F3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2"/>
          <a:srcRect l="-80" r="-80"/>
          <a:stretch/>
        </p:blipFill>
        <p:spPr>
          <a:xfrm>
            <a:off x="10096805" y="3600907"/>
            <a:ext cx="286207" cy="22860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9191549" y="4095598"/>
            <a:ext cx="20958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Additive</a:t>
            </a:r>
            <a:endParaRPr lang="en-US" sz="2400" dirty="0"/>
          </a:p>
        </p:txBody>
      </p:sp>
      <p:sp>
        <p:nvSpPr>
          <p:cNvPr id="33" name="Text 21"/>
          <p:cNvSpPr txBox="1"/>
          <p:nvPr/>
        </p:nvSpPr>
        <p:spPr>
          <a:xfrm>
            <a:off x="9191549" y="4543654"/>
            <a:ext cx="2095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GuardDuty Signals</a:t>
            </a:r>
            <a:endParaRPr lang="en-US" sz="1200" dirty="0"/>
          </a:p>
        </p:txBody>
      </p:sp>
      <p:sp>
        <p:nvSpPr>
          <p:cNvPr id="34" name="Text 22"/>
          <p:cNvSpPr txBox="1"/>
          <p:nvPr/>
        </p:nvSpPr>
        <p:spPr>
          <a:xfrm>
            <a:off x="9191549" y="4905756"/>
            <a:ext cx="20958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AWS-managed threat intelligence and anomaly findings seamlessly integrated to corroborate custom context.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5895"/>
            <a:ext cx="12191695" cy="952805"/>
          </a:xfrm>
          <a:prstGeom prst="rect">
            <a:avLst/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1333195" y="1762049"/>
            <a:ext cx="9601200" cy="4714646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809598" y="2809951"/>
            <a:ext cx="8477402" cy="914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809598" y="3666744"/>
            <a:ext cx="8477402" cy="9144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809598" y="4524451"/>
            <a:ext cx="8477402" cy="9144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809598" y="5381244"/>
            <a:ext cx="8477402" cy="9144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761695" y="286207"/>
            <a:ext cx="8572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Achievements</a:t>
            </a:r>
            <a:endParaRPr lang="en-US" sz="310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6"/>
          <a:srcRect l="-44" r="-44"/>
          <a:stretch/>
        </p:blipFill>
        <p:spPr>
          <a:xfrm>
            <a:off x="10882274" y="362102"/>
            <a:ext cx="523951" cy="418795"/>
          </a:xfrm>
          <a:prstGeom prst="rect">
            <a:avLst/>
          </a:prstGeom>
        </p:spPr>
      </p:pic>
      <p:sp>
        <p:nvSpPr>
          <p:cNvPr id="13" name="Text 4"/>
          <p:cNvSpPr txBox="1"/>
          <p:nvPr/>
        </p:nvSpPr>
        <p:spPr>
          <a:xfrm>
            <a:off x="418795" y="1238098"/>
            <a:ext cx="113541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outcomes demonstrated the viability and effectiveness of action-centric monitoring in cloud environments.</a:t>
            </a:r>
            <a:endParaRPr lang="en-US" sz="150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895551" y="2133295"/>
            <a:ext cx="304495" cy="304495"/>
          </a:xfrm>
          <a:prstGeom prst="rect">
            <a:avLst/>
          </a:prstGeom>
        </p:spPr>
      </p:pic>
      <p:sp>
        <p:nvSpPr>
          <p:cNvPr id="15" name="Text 5"/>
          <p:cNvSpPr txBox="1"/>
          <p:nvPr/>
        </p:nvSpPr>
        <p:spPr>
          <a:xfrm>
            <a:off x="2476195" y="2095805"/>
            <a:ext cx="7810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Successfully differentiated baseline activity from suspicious action sequences</a:t>
            </a:r>
            <a:endParaRPr lang="en-US" sz="1600" dirty="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895551" y="2991002"/>
            <a:ext cx="304495" cy="304495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2476195" y="2952598"/>
            <a:ext cx="8496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Generated explainable scoring tied directly to concrete AWS actions</a:t>
            </a:r>
            <a:endParaRPr lang="en-US" sz="160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895551" y="3847795"/>
            <a:ext cx="304495" cy="304495"/>
          </a:xfrm>
          <a:prstGeom prst="rect">
            <a:avLst/>
          </a:prstGeom>
        </p:spPr>
      </p:pic>
      <p:sp>
        <p:nvSpPr>
          <p:cNvPr id="19" name="Text 7"/>
          <p:cNvSpPr txBox="1"/>
          <p:nvPr/>
        </p:nvSpPr>
        <p:spPr>
          <a:xfrm>
            <a:off x="2476195" y="3810305"/>
            <a:ext cx="8496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Maintained alert discipline via strategic cooldowns and noise suppression</a:t>
            </a:r>
            <a:endParaRPr lang="en-US" sz="1600" dirty="0"/>
          </a:p>
        </p:txBody>
      </p:sp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895551" y="4705502"/>
            <a:ext cx="304495" cy="304495"/>
          </a:xfrm>
          <a:prstGeom prst="rect">
            <a:avLst/>
          </a:prstGeom>
        </p:spPr>
      </p:pic>
      <p:sp>
        <p:nvSpPr>
          <p:cNvPr id="21" name="Text 8"/>
          <p:cNvSpPr txBox="1"/>
          <p:nvPr/>
        </p:nvSpPr>
        <p:spPr>
          <a:xfrm>
            <a:off x="2476195" y="4667098"/>
            <a:ext cx="8496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Integrated GuardDuty successfully as managed corroborating telemetry</a:t>
            </a:r>
            <a:endParaRPr lang="en-US" sz="16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895551" y="5562295"/>
            <a:ext cx="304495" cy="304495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2476195" y="5524805"/>
            <a:ext cx="8496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F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Delivered a practical, scalable prototype suitable for enterprise adaptation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5895"/>
            <a:ext cx="12191695" cy="952805"/>
          </a:xfrm>
          <a:prstGeom prst="rect">
            <a:avLst/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61695" y="1762049"/>
            <a:ext cx="5143500" cy="2295144"/>
          </a:xfrm>
          <a:prstGeom prst="roundRect">
            <a:avLst>
              <a:gd name="adj" fmla="val 2645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61695" y="1762049"/>
            <a:ext cx="5143500" cy="57607"/>
          </a:xfrm>
          <a:prstGeom prst="roundRect">
            <a:avLst>
              <a:gd name="adj" fmla="val 105381"/>
            </a:avLst>
          </a:prstGeom>
          <a:solidFill>
            <a:srgbClr val="232F3E"/>
          </a:solidFill>
          <a:ln w="12700">
            <a:solidFill>
              <a:srgbClr val="232F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286500" y="1762049"/>
            <a:ext cx="5143500" cy="2295144"/>
          </a:xfrm>
          <a:prstGeom prst="roundRect">
            <a:avLst>
              <a:gd name="adj" fmla="val 2645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286500" y="1762049"/>
            <a:ext cx="5143500" cy="57607"/>
          </a:xfrm>
          <a:prstGeom prst="roundRect">
            <a:avLst>
              <a:gd name="adj" fmla="val 105381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61695" y="4238244"/>
            <a:ext cx="5143500" cy="2295144"/>
          </a:xfrm>
          <a:prstGeom prst="roundRect">
            <a:avLst>
              <a:gd name="adj" fmla="val 2645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61695" y="4238244"/>
            <a:ext cx="5143500" cy="57607"/>
          </a:xfrm>
          <a:prstGeom prst="roundRect">
            <a:avLst>
              <a:gd name="adj" fmla="val 105381"/>
            </a:avLst>
          </a:prstGeom>
          <a:solidFill>
            <a:srgbClr val="D13212"/>
          </a:solidFill>
          <a:ln w="12700">
            <a:solidFill>
              <a:srgbClr val="D132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286500" y="4238244"/>
            <a:ext cx="5143500" cy="2295144"/>
          </a:xfrm>
          <a:prstGeom prst="roundRect">
            <a:avLst>
              <a:gd name="adj" fmla="val 2645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86500" y="4238244"/>
            <a:ext cx="5143500" cy="57607"/>
          </a:xfrm>
          <a:prstGeom prst="roundRect">
            <a:avLst>
              <a:gd name="adj" fmla="val 105381"/>
            </a:avLst>
          </a:prstGeom>
          <a:solidFill>
            <a:srgbClr val="1D8102"/>
          </a:solidFill>
          <a:ln w="12700">
            <a:solidFill>
              <a:srgbClr val="1D810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286207"/>
            <a:ext cx="8572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Enhancements</a:t>
            </a:r>
            <a:endParaRPr lang="en-US" sz="3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-30861" b="-30861"/>
          <a:stretch/>
        </p:blipFill>
        <p:spPr>
          <a:xfrm>
            <a:off x="10886846" y="362102"/>
            <a:ext cx="323698" cy="4187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61695" y="1238098"/>
            <a:ext cx="10668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Recommendations for maturing the prototype into an enterprise-scale security operation.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047902" y="2048256"/>
            <a:ext cx="381305" cy="381305"/>
          </a:xfrm>
          <a:prstGeom prst="ellipse">
            <a:avLst/>
          </a:prstGeom>
          <a:solidFill>
            <a:srgbClr val="232F3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t="-12275" b="-12275"/>
          <a:stretch/>
        </p:blipFill>
        <p:spPr>
          <a:xfrm>
            <a:off x="1162202" y="2143354"/>
            <a:ext cx="152705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71854" y="2095805"/>
            <a:ext cx="40965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Longer Baselines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047902" y="2572207"/>
            <a:ext cx="4572000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Extend historical profiling windows (weeks to months) to establish stronger judgments about normal access times, expected service usage patterns, and API sequence behaviors before triggering anomaly scores.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572707" y="2048256"/>
            <a:ext cx="381305" cy="381305"/>
          </a:xfrm>
          <a:prstGeom prst="ellipse">
            <a:avLst/>
          </a:prstGeom>
          <a:solidFill>
            <a:srgbClr val="FF99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t="-20060" b="-20060"/>
          <a:stretch/>
        </p:blipFill>
        <p:spPr>
          <a:xfrm>
            <a:off x="6687007" y="2143354"/>
            <a:ext cx="152705" cy="1901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95744" y="2095805"/>
            <a:ext cx="40965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Geolocation &amp; Session Analytics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572707" y="2572207"/>
            <a:ext cx="45720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Incorporate IP enrichment, approved network lists, and device reputation to raise confidence when access originates from unusual geographies or inconsistent infrastructure patterns.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1047902" y="4524451"/>
            <a:ext cx="381305" cy="381305"/>
          </a:xfrm>
          <a:prstGeom prst="ellipse">
            <a:avLst/>
          </a:prstGeom>
          <a:solidFill>
            <a:srgbClr val="D13212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 t="-27844" b="-27844"/>
          <a:stretch/>
        </p:blipFill>
        <p:spPr>
          <a:xfrm>
            <a:off x="1162202" y="4619549"/>
            <a:ext cx="152705" cy="19019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71854" y="4572000"/>
            <a:ext cx="40965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Broader Workload Telemetry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1047902" y="5048402"/>
            <a:ext cx="45720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Expand visibility beyond S3/IAM/VPC by integrating VPC Flow Logs, host-level telemetry, container execution logs, and EDR sources to capture lateral movement post-exposure.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572707" y="4524451"/>
            <a:ext cx="381305" cy="381305"/>
          </a:xfrm>
          <a:prstGeom prst="ellipse">
            <a:avLst/>
          </a:prstGeom>
          <a:solidFill>
            <a:srgbClr val="1D8102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 t="-12275" b="-12275"/>
          <a:stretch/>
        </p:blipFill>
        <p:spPr>
          <a:xfrm>
            <a:off x="6687007" y="4619549"/>
            <a:ext cx="152705" cy="19019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095744" y="4572000"/>
            <a:ext cx="40965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SIEM &amp; SOAR Integration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572707" y="5048402"/>
            <a:ext cx="4572000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 natively-generated detections into broader enterprise case management platforms. Implement automated response playbooks for tier-critical thresholds (e.g., immediate credential revocation).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5895"/>
            <a:ext cx="12191695" cy="952805"/>
          </a:xfrm>
          <a:prstGeom prst="rect">
            <a:avLst/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8" r="-8"/>
          <a:stretch/>
        </p:blipFill>
        <p:spPr>
          <a:xfrm>
            <a:off x="761695" y="1904695"/>
            <a:ext cx="5048402" cy="224759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047902" y="2952598"/>
            <a:ext cx="4476902" cy="914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 l="-8" r="-8"/>
          <a:stretch/>
        </p:blipFill>
        <p:spPr>
          <a:xfrm>
            <a:off x="6381598" y="1904695"/>
            <a:ext cx="5048402" cy="22475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6667805" y="2952598"/>
            <a:ext cx="4476902" cy="9144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7"/>
          <a:srcRect l="-8" r="-8"/>
          <a:stretch/>
        </p:blipFill>
        <p:spPr>
          <a:xfrm>
            <a:off x="761695" y="4334256"/>
            <a:ext cx="5048402" cy="2247595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047902" y="5381244"/>
            <a:ext cx="4476902" cy="9144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8"/>
          <a:srcRect l="-8" r="-8"/>
          <a:stretch/>
        </p:blipFill>
        <p:spPr>
          <a:xfrm>
            <a:off x="6381598" y="4334256"/>
            <a:ext cx="5048402" cy="2247595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6667805" y="5381244"/>
            <a:ext cx="4476902" cy="9144"/>
          </a:xfrm>
          <a:prstGeom prst="rect">
            <a:avLst/>
          </a:prstGeom>
        </p:spPr>
      </p:pic>
      <p:sp>
        <p:nvSpPr>
          <p:cNvPr id="14" name="Text 3"/>
          <p:cNvSpPr txBox="1"/>
          <p:nvPr/>
        </p:nvSpPr>
        <p:spPr>
          <a:xfrm>
            <a:off x="761695" y="286207"/>
            <a:ext cx="8572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Cybersecurity Implications</a:t>
            </a:r>
            <a:endParaRPr lang="en-US" sz="3100" dirty="0"/>
          </a:p>
        </p:txBody>
      </p:sp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9"/>
          <a:srcRect t="-30861" b="-30861"/>
          <a:stretch/>
        </p:blipFill>
        <p:spPr>
          <a:xfrm>
            <a:off x="10981944" y="362102"/>
            <a:ext cx="323698" cy="418795"/>
          </a:xfrm>
          <a:prstGeom prst="rect">
            <a:avLst/>
          </a:prstGeom>
        </p:spPr>
      </p:pic>
      <p:sp>
        <p:nvSpPr>
          <p:cNvPr id="16" name="Text 4"/>
          <p:cNvSpPr txBox="1"/>
          <p:nvPr/>
        </p:nvSpPr>
        <p:spPr>
          <a:xfrm>
            <a:off x="761695" y="1285646"/>
            <a:ext cx="113541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Translating action-based telemetry into strategic enterprise risk management and governance outcomes.</a:t>
            </a:r>
            <a:endParaRPr lang="en-US" sz="1500" dirty="0"/>
          </a:p>
        </p:txBody>
      </p:sp>
      <p:sp>
        <p:nvSpPr>
          <p:cNvPr id="17" name="Shape 5"/>
          <p:cNvSpPr/>
          <p:nvPr/>
        </p:nvSpPr>
        <p:spPr>
          <a:xfrm>
            <a:off x="1047902" y="2190902"/>
            <a:ext cx="571500" cy="571500"/>
          </a:xfrm>
          <a:prstGeom prst="ellipse">
            <a:avLst/>
          </a:prstGeom>
          <a:solidFill>
            <a:srgbClr val="D13212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10"/>
          <a:srcRect t="-31430" b="-31430"/>
          <a:stretch/>
        </p:blipFill>
        <p:spPr>
          <a:xfrm>
            <a:off x="1238098" y="2352751"/>
            <a:ext cx="190195" cy="247802"/>
          </a:xfrm>
          <a:prstGeom prst="rect">
            <a:avLst/>
          </a:prstGeom>
        </p:spPr>
      </p:pic>
      <p:sp>
        <p:nvSpPr>
          <p:cNvPr id="19" name="Text 6"/>
          <p:cNvSpPr txBox="1"/>
          <p:nvPr/>
        </p:nvSpPr>
        <p:spPr>
          <a:xfrm>
            <a:off x="1809598" y="2333549"/>
            <a:ext cx="3715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Board-Level Exposure</a:t>
            </a:r>
            <a:endParaRPr lang="en-US" sz="1600" dirty="0"/>
          </a:p>
        </p:txBody>
      </p:sp>
      <p:sp>
        <p:nvSpPr>
          <p:cNvPr id="20" name="Text 7"/>
          <p:cNvSpPr txBox="1"/>
          <p:nvPr/>
        </p:nvSpPr>
        <p:spPr>
          <a:xfrm>
            <a:off x="1047902" y="3143707"/>
            <a:ext cx="447690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Insider risk is fundamentally an identity and access risk. It requires measurable, board-level metrics moving beyond perimeter security to focus on internal posture.</a:t>
            </a:r>
            <a:endParaRPr lang="en-US" sz="1200" dirty="0"/>
          </a:p>
        </p:txBody>
      </p:sp>
      <p:sp>
        <p:nvSpPr>
          <p:cNvPr id="21" name="Shape 8"/>
          <p:cNvSpPr/>
          <p:nvPr/>
        </p:nvSpPr>
        <p:spPr>
          <a:xfrm>
            <a:off x="6667805" y="2190902"/>
            <a:ext cx="571500" cy="571500"/>
          </a:xfrm>
          <a:prstGeom prst="ellipse">
            <a:avLst/>
          </a:prstGeom>
          <a:solidFill>
            <a:srgbClr val="1D8102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11"/>
          <a:srcRect t="-15144" b="-15144"/>
          <a:stretch/>
        </p:blipFill>
        <p:spPr>
          <a:xfrm>
            <a:off x="6858000" y="2352751"/>
            <a:ext cx="190195" cy="247802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7429500" y="2333549"/>
            <a:ext cx="3715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Mitigation</a:t>
            </a:r>
            <a:endParaRPr lang="en-US" sz="1600" dirty="0"/>
          </a:p>
        </p:txBody>
      </p:sp>
      <p:sp>
        <p:nvSpPr>
          <p:cNvPr id="24" name="Text 10"/>
          <p:cNvSpPr txBox="1"/>
          <p:nvPr/>
        </p:nvSpPr>
        <p:spPr>
          <a:xfrm>
            <a:off x="6667805" y="3143707"/>
            <a:ext cx="447690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Faster containment materially lowers cost exposure. Early behavioral detection prevents prolonged breaches that can scale to average containment costs of $18.7M.</a:t>
            </a:r>
            <a:endParaRPr lang="en-US" sz="1200" dirty="0"/>
          </a:p>
        </p:txBody>
      </p:sp>
      <p:sp>
        <p:nvSpPr>
          <p:cNvPr id="25" name="Shape 11"/>
          <p:cNvSpPr/>
          <p:nvPr/>
        </p:nvSpPr>
        <p:spPr>
          <a:xfrm>
            <a:off x="1047902" y="4619549"/>
            <a:ext cx="571500" cy="571500"/>
          </a:xfrm>
          <a:prstGeom prst="ellipse">
            <a:avLst/>
          </a:prstGeom>
          <a:solidFill>
            <a:srgbClr val="232F3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12"/>
          <a:srcRect l="-1169" r="-1169"/>
          <a:stretch/>
        </p:blipFill>
        <p:spPr>
          <a:xfrm>
            <a:off x="1238098" y="4781398"/>
            <a:ext cx="190195" cy="247802"/>
          </a:xfrm>
          <a:prstGeom prst="rect">
            <a:avLst/>
          </a:prstGeom>
        </p:spPr>
      </p:pic>
      <p:sp>
        <p:nvSpPr>
          <p:cNvPr id="27" name="Text 12"/>
          <p:cNvSpPr txBox="1"/>
          <p:nvPr/>
        </p:nvSpPr>
        <p:spPr>
          <a:xfrm>
            <a:off x="1809598" y="4762195"/>
            <a:ext cx="3715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Regulatory Alignment</a:t>
            </a:r>
            <a:endParaRPr lang="en-US" sz="1600" dirty="0"/>
          </a:p>
        </p:txBody>
      </p:sp>
      <p:sp>
        <p:nvSpPr>
          <p:cNvPr id="28" name="Text 13"/>
          <p:cNvSpPr txBox="1"/>
          <p:nvPr/>
        </p:nvSpPr>
        <p:spPr>
          <a:xfrm>
            <a:off x="1047902" y="5572354"/>
            <a:ext cx="447690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Aligns perfectly with NIST SP 800-30/53 frameworks and Zero Trust principles by enforcing continuous verification and tracking privilege deviation.</a:t>
            </a:r>
            <a:endParaRPr lang="en-US" sz="1200" dirty="0"/>
          </a:p>
        </p:txBody>
      </p:sp>
      <p:sp>
        <p:nvSpPr>
          <p:cNvPr id="29" name="Shape 14"/>
          <p:cNvSpPr/>
          <p:nvPr/>
        </p:nvSpPr>
        <p:spPr>
          <a:xfrm>
            <a:off x="6667805" y="4619549"/>
            <a:ext cx="571500" cy="571500"/>
          </a:xfrm>
          <a:prstGeom prst="ellipse">
            <a:avLst/>
          </a:prstGeom>
          <a:solidFill>
            <a:srgbClr val="FF99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13" descr="preencoded.png"/>
          <p:cNvPicPr>
            <a:picLocks noChangeAspect="1"/>
          </p:cNvPicPr>
          <p:nvPr/>
        </p:nvPicPr>
        <p:blipFill>
          <a:blip r:embed="rId13"/>
          <a:srcRect t="-15144" b="-15144"/>
          <a:stretch/>
        </p:blipFill>
        <p:spPr>
          <a:xfrm>
            <a:off x="6858000" y="4781398"/>
            <a:ext cx="190195" cy="247802"/>
          </a:xfrm>
          <a:prstGeom prst="rect">
            <a:avLst/>
          </a:prstGeom>
        </p:spPr>
      </p:pic>
      <p:sp>
        <p:nvSpPr>
          <p:cNvPr id="31" name="Text 15"/>
          <p:cNvSpPr txBox="1"/>
          <p:nvPr/>
        </p:nvSpPr>
        <p:spPr>
          <a:xfrm>
            <a:off x="7429500" y="4762195"/>
            <a:ext cx="3715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F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Governance</a:t>
            </a:r>
            <a:endParaRPr lang="en-US" sz="1600" dirty="0"/>
          </a:p>
        </p:txBody>
      </p:sp>
      <p:sp>
        <p:nvSpPr>
          <p:cNvPr id="32" name="Text 16"/>
          <p:cNvSpPr txBox="1"/>
          <p:nvPr/>
        </p:nvSpPr>
        <p:spPr>
          <a:xfrm>
            <a:off x="6667805" y="5572354"/>
            <a:ext cx="447690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B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Underscores the operational necessity for rigorous access recertifications, strict handling of orphaned accounts, and comprehensive third-party oversight.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rcRect t="-14306" b="-14306"/>
          <a:stretch/>
        </p:blipFill>
        <p:spPr>
          <a:xfrm>
            <a:off x="-528523" y="1429207"/>
            <a:ext cx="2962656" cy="381030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2286000" y="1619402"/>
            <a:ext cx="7658100" cy="3657600"/>
          </a:xfrm>
          <a:prstGeom prst="roundRect">
            <a:avLst>
              <a:gd name="adj" fmla="val 1563"/>
            </a:avLst>
          </a:prstGeom>
          <a:noFill/>
          <a:ln w="254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 t="-408" b="-408"/>
          <a:stretch/>
        </p:blipFill>
        <p:spPr>
          <a:xfrm>
            <a:off x="5143500" y="4238244"/>
            <a:ext cx="1904695" cy="3840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2667305" y="2048256"/>
            <a:ext cx="6858000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Action-based, AWS-native </a:t>
            </a:r>
            <a:r>
              <a:rPr lang="en-US" sz="27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insider threat detection</a:t>
            </a:r>
            <a:endParaRPr lang="en-US" sz="2700" dirty="0"/>
          </a:p>
        </p:txBody>
      </p:sp>
      <p:sp>
        <p:nvSpPr>
          <p:cNvPr id="10" name="Text 4"/>
          <p:cNvSpPr txBox="1"/>
          <p:nvPr/>
        </p:nvSpPr>
        <p:spPr>
          <a:xfrm>
            <a:off x="2667305" y="3524098"/>
            <a:ext cx="6858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75" dirty="0">
                <a:solidFill>
                  <a:srgbClr val="FF9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1" name="Text 5"/>
          <p:cNvSpPr txBox="1"/>
          <p:nvPr/>
        </p:nvSpPr>
        <p:spPr>
          <a:xfrm>
            <a:off x="2667305" y="4524451"/>
            <a:ext cx="6858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50" dirty="0">
                <a:solidFill>
                  <a:srgbClr val="8C9B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12" name="Text 6"/>
          <p:cNvSpPr txBox="1"/>
          <p:nvPr/>
        </p:nvSpPr>
        <p:spPr>
          <a:xfrm>
            <a:off x="381305" y="6286500"/>
            <a:ext cx="3810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C9B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Solomon Runzonza | MS Cybersecurity Capstone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 t="-30265" b="-30265"/>
          <a:stretch/>
        </p:blipFill>
        <p:spPr>
          <a:xfrm>
            <a:off x="11544300" y="6210605"/>
            <a:ext cx="267005" cy="34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2191</Words>
  <Application>Microsoft Office PowerPoint</Application>
  <PresentationFormat>Widescreen</PresentationFormat>
  <Paragraphs>330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Arial</vt:lpstr>
      <vt:lpstr>Calibri</vt:lpstr>
      <vt:lpstr>monospace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Solomon Runzonza</cp:lastModifiedBy>
  <cp:revision>9</cp:revision>
  <dcterms:created xsi:type="dcterms:W3CDTF">2026-04-27T03:11:58Z</dcterms:created>
  <dcterms:modified xsi:type="dcterms:W3CDTF">2026-05-03T20:03:27Z</dcterms:modified>
</cp:coreProperties>
</file>